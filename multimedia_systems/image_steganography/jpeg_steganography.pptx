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4"/>
  </p:notesMasterIdLst>
  <p:sldIdLst>
    <p:sldId id="256" r:id="rId2"/>
    <p:sldId id="261" r:id="rId3"/>
    <p:sldId id="262" r:id="rId4"/>
    <p:sldId id="263" r:id="rId5"/>
    <p:sldId id="264" r:id="rId6"/>
    <p:sldId id="265" r:id="rId7"/>
    <p:sldId id="271" r:id="rId8"/>
    <p:sldId id="266" r:id="rId9"/>
    <p:sldId id="269" r:id="rId10"/>
    <p:sldId id="270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272727"/>
    <a:srgbClr val="1B1B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8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3B177-802C-4EC1-ABCD-2E16523091B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40FC9-6A7D-4147-9A4B-BFE972800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59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44D6B-29B6-F520-9D11-7228D2A75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AF14A-85F3-9FB2-507E-7A8AD41FC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D24E7-3BEB-9922-232E-496235E3D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E8D3A-71EC-4C69-B3F8-1AF5D7985EC3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64CE1-E67C-2A08-348D-2037F72B7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86976-3799-40F0-BA21-EEE0120D9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43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347AD-AB43-F397-7FF8-62F2E7191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1AF9F-11A1-1415-DD85-F522EC378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FC4C8-5C65-86FD-1A04-89DEE192C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FAA26-6183-49BC-B45A-1C53E9070362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4ECD3-FAD0-E438-833E-700B225AC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0F50D-03F9-D4E1-EC6B-714158244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E2682-7CA9-3B18-6222-9494B8BF1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99962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590CF-1190-FCD9-E04A-6C379B575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847591"/>
            <a:ext cx="10515600" cy="1500187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5A22A-3B82-15CF-E369-AACC679FB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A3D37-AD8A-41F1-AEAA-A0137A2B2D74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923F6-E53D-E703-074F-461B03D55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CF195-4B01-A156-7BC2-8E90A703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357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66DC-B43E-B89A-5D1C-26C263DD3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6D625-48D1-A2AF-206A-93244F16E8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0B091-D5B8-5196-9C6A-A568E0E75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9B888A-7398-421A-6783-85458314A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791A5-C1F6-48E6-B2F2-C54E6DA9D8FB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D6C92-9D2A-D3C8-EBA7-381AA25D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83521-3633-F041-4C4E-8F683104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93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0D8C7-9B7F-9952-0A0E-E24D9AB69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DB665-0482-0E3A-7B2D-5D94EA9DF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07BD0-21D9-EFE3-C639-D96168550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D5E8AA-05E9-C01B-3676-54428226B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43171D-099A-E65C-F466-41650BA84E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A62705-87E3-A133-D7D1-058F4D9A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E2CD-651A-458E-B3D8-6151637DF896}" type="datetime1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92D766-0C9F-ABE5-D2BA-CE22A075A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86E240-1FA3-B977-681F-D94AC9CF1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27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31A15-2D58-F144-7A44-C59DEF08B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8E79DD-3BEC-EEC9-1B8A-83D41634A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8B42B-09F1-441B-96B2-874813031574}" type="datetime1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FAF880-AEFD-6786-DB53-DEC02BB0D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94A0DF-B4AD-756D-CCBA-F42BED636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475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ABB3CA-EAE9-9ADC-2D0C-507E054CE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99356-3A78-4E71-B4E9-438F1898B6B3}" type="datetime1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55DBB7-EB95-856F-663E-BEC4E6C64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17E07-313A-00A5-D985-BB469C2F1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746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B6870-534F-DE15-63BE-773494375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7FDEB-7CB9-3BD0-1BAD-0A5E8F1C9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00D7A2-CEA9-E1D6-95A0-D15751F11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F0405-FFF7-C3A1-8E76-D60C8C149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EDA6F-F60F-406E-B843-B0AAA5B4B0AC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A5730-6193-EA73-5606-47F6CA98E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A4962-7C5B-11A3-1A6B-37FC78B66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06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7550F-F03B-84E7-5252-E09A976B0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61144B-B37B-3210-B559-714C592F33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A19EF-AE84-0945-AD11-715F8B741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1E9E4-A8F9-478D-CD78-3C0DA6C3D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0C986-3264-43A0-94DA-8C1D60F47A1D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EE241-77EE-0BE8-E769-B9A5DA344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3B84D-3804-8F06-0385-FC5897E3F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8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5D65E-0DCD-8928-B589-63BB1A51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8768D6-4930-5A7E-C78F-90706415A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4525F-2A09-11E0-2EDB-AB4969F9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A0F8C-A8CF-4922-9339-77F89B91A006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B280B-E569-C3E2-8DE4-B1B54799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09A8B-E432-7A73-C2E2-80313A44D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78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6CD370-D017-34D1-F49C-153547CC2B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1E5F1-69D7-9506-E781-E3CED9270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316E1-ABD9-ECA0-F826-445F56740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FF51-27CD-4006-8A6C-6128EB3F81FA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FF425-EF28-9C28-1108-D23B3BA8A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BBAD2-FCFD-06E9-1F6D-00EF9471B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5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E04588-DD35-60FD-0F7C-3E573C7D5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2E36F-577E-818A-D3BE-D11B599BF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3F47F-9872-4D01-8638-AA5E8E6BF9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45A29D-5CD2-4782-8C62-B1E96EDF2748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54B8A-F50C-BFAF-CE99-5771F841E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131D0-3CB6-6596-BF45-D8FEC1196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103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/>
                </a:solidFill>
              </a:defRPr>
            </a:lvl1pPr>
          </a:lstStyle>
          <a:p>
            <a:fld id="{C1E269DE-A5AD-412D-9C19-052F9FC7FE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277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BC953-EB40-FC9F-25AB-8BDFA7105A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Jpeg </a:t>
            </a:r>
            <a:r>
              <a:rPr lang="en-US" dirty="0" err="1"/>
              <a:t>Steganogaphy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EA073F-0C99-BD60-AC85-32115F88BB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Ali Ghaffarian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011F8-9B05-C309-B9C8-225F874CB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930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5A237-2C80-DF46-5050-AE0AA838F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471E1-4723-1B86-685B-CDAC89D63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DFDF0-013B-C6C3-F8C2-04F3762A0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Steganography</a:t>
            </a:r>
          </a:p>
          <a:p>
            <a:r>
              <a:rPr lang="en-US" dirty="0"/>
              <a:t>Jpeg</a:t>
            </a:r>
          </a:p>
          <a:p>
            <a:r>
              <a:rPr lang="en-US" dirty="0"/>
              <a:t>Discrete cosine transform</a:t>
            </a:r>
          </a:p>
          <a:p>
            <a:r>
              <a:rPr lang="en-US" dirty="0"/>
              <a:t>DCT Tables</a:t>
            </a:r>
          </a:p>
          <a:p>
            <a:r>
              <a:rPr lang="en-US" dirty="0"/>
              <a:t>My Approach</a:t>
            </a:r>
          </a:p>
          <a:p>
            <a:r>
              <a:rPr lang="en-US" dirty="0"/>
              <a:t>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D4DD8-5345-7B45-2269-E2243A659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624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445A0-70A1-707D-95B4-9A021403A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Steganography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9F1D7-169B-02FF-00AA-9EA981269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72947-B581-6E72-FF6D-73E25E44E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691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68801-9479-E044-CFC1-42913EE919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Jpeg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49919B-B5D9-A347-BC4E-AA08F93455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Brightness vs Colors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392C0-D64B-6843-D5A0-2A2BF2B3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519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332E4-798A-F7E7-E8FF-BD6A2C3EF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DCT Tables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2FD34-6BB7-379B-A9B3-2FA9E86EC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5</a:t>
            </a:fld>
            <a:endParaRPr lang="en-US"/>
          </a:p>
        </p:txBody>
      </p:sp>
      <p:pic>
        <p:nvPicPr>
          <p:cNvPr id="1026" name="Picture 2" descr="image compression - What are the cosine functions in JPEG's ...">
            <a:extLst>
              <a:ext uri="{FF2B5EF4-FFF2-40B4-BE49-F238E27FC236}">
                <a16:creationId xmlns:a16="http://schemas.microsoft.com/office/drawing/2014/main" id="{C79B3DBC-7798-1658-A321-A13677DA8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2680" y="1943672"/>
            <a:ext cx="4366640" cy="4366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8364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A8C21-3031-C38F-97BA-F212EB10C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E7F82-EC2A-09B1-2B16-1545BC617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9719" y="1830006"/>
            <a:ext cx="270052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[[0 0 0 0 0 0 0 0]</a:t>
            </a:r>
          </a:p>
          <a:p>
            <a:pPr marL="0" indent="0">
              <a:buNone/>
            </a:pPr>
            <a:r>
              <a:rPr lang="en-US" dirty="0"/>
              <a:t> [0 0 0 0 0 0 0 0]</a:t>
            </a:r>
          </a:p>
          <a:p>
            <a:pPr marL="0" indent="0">
              <a:buNone/>
            </a:pPr>
            <a:r>
              <a:rPr lang="en-US" dirty="0"/>
              <a:t> [0 0 0 0 0 0 0 0]</a:t>
            </a:r>
          </a:p>
          <a:p>
            <a:pPr marL="0" indent="0">
              <a:buNone/>
            </a:pPr>
            <a:r>
              <a:rPr lang="en-US" dirty="0"/>
              <a:t> [0 0 0 0 0 0 0 0]</a:t>
            </a:r>
          </a:p>
          <a:p>
            <a:pPr marL="0" indent="0">
              <a:buNone/>
            </a:pPr>
            <a:r>
              <a:rPr lang="en-US" dirty="0"/>
              <a:t> [0 0 0 0 0 0 0 0]</a:t>
            </a:r>
          </a:p>
          <a:p>
            <a:pPr marL="0" indent="0">
              <a:buNone/>
            </a:pPr>
            <a:r>
              <a:rPr lang="en-US" dirty="0"/>
              <a:t> [0 0 0 0 0 0 0 0]</a:t>
            </a:r>
          </a:p>
          <a:p>
            <a:pPr marL="0" indent="0">
              <a:buNone/>
            </a:pPr>
            <a:r>
              <a:rPr lang="en-US" dirty="0"/>
              <a:t> [0 0 0 0 0 0 0 0]</a:t>
            </a:r>
          </a:p>
          <a:p>
            <a:pPr marL="0" indent="0">
              <a:buNone/>
            </a:pPr>
            <a:r>
              <a:rPr lang="en-US" dirty="0"/>
              <a:t> [0 0 0 0 0 0 0 0]]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23CCB-F325-6D70-44B2-7A580C2D1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6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ED310A0-7BCC-3C11-2C29-3CC6EF7F689F}"/>
              </a:ext>
            </a:extLst>
          </p:cNvPr>
          <p:cNvSpPr txBox="1">
            <a:spLocks/>
          </p:cNvSpPr>
          <p:nvPr/>
        </p:nvSpPr>
        <p:spPr>
          <a:xfrm>
            <a:off x="7921754" y="1830006"/>
            <a:ext cx="270052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[[0 0 0 0 0 0 0 0]</a:t>
            </a:r>
          </a:p>
          <a:p>
            <a:pPr marL="0" indent="0">
              <a:buNone/>
            </a:pPr>
            <a:r>
              <a:rPr lang="en-US" dirty="0"/>
              <a:t> [0 0 0 0 0 0 0 0]</a:t>
            </a:r>
          </a:p>
          <a:p>
            <a:pPr marL="0" indent="0">
              <a:buNone/>
            </a:pPr>
            <a:r>
              <a:rPr lang="en-US" dirty="0"/>
              <a:t> [0 0 0 0 0 0 0 0]</a:t>
            </a:r>
          </a:p>
          <a:p>
            <a:pPr marL="0" indent="0">
              <a:buNone/>
            </a:pPr>
            <a:r>
              <a:rPr lang="en-US" dirty="0"/>
              <a:t> [0 0 0 0 0 0 0 0]</a:t>
            </a:r>
          </a:p>
          <a:p>
            <a:pPr marL="0" indent="0">
              <a:buNone/>
            </a:pPr>
            <a:r>
              <a:rPr lang="en-US" dirty="0"/>
              <a:t> [0 0 0 0 0 0 0 0]</a:t>
            </a:r>
          </a:p>
          <a:p>
            <a:pPr marL="0" indent="0">
              <a:buNone/>
            </a:pPr>
            <a:r>
              <a:rPr lang="en-US" dirty="0"/>
              <a:t> [0 0 0 0 0 0 0 0]</a:t>
            </a:r>
          </a:p>
          <a:p>
            <a:pPr marL="0" indent="0">
              <a:buNone/>
            </a:pPr>
            <a:r>
              <a:rPr lang="en-US" dirty="0"/>
              <a:t> [0 0 0 0 0 0 0 0]</a:t>
            </a:r>
          </a:p>
          <a:p>
            <a:pPr marL="0" indent="0">
              <a:buNone/>
            </a:pPr>
            <a:r>
              <a:rPr lang="en-US" dirty="0"/>
              <a:t> [0 0 0 0 1 0 1 1]]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C9DC265-7108-0902-BD6C-1ACF4367A3CD}"/>
              </a:ext>
            </a:extLst>
          </p:cNvPr>
          <p:cNvCxnSpPr/>
          <p:nvPr/>
        </p:nvCxnSpPr>
        <p:spPr>
          <a:xfrm>
            <a:off x="4806696" y="3429000"/>
            <a:ext cx="2578608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280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F108D-BFCE-4885-C195-70E7C593F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2070C-341E-1B25-2213-85823143B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Global_header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	uint4 length;</a:t>
            </a:r>
          </a:p>
          <a:p>
            <a:pPr marL="0" indent="0">
              <a:buNone/>
            </a:pPr>
            <a:r>
              <a:rPr lang="en-US" dirty="0"/>
              <a:t>	uint4 checksum;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Data_block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	char data[16];</a:t>
            </a:r>
          </a:p>
          <a:p>
            <a:pPr marL="0" indent="0">
              <a:buNone/>
            </a:pPr>
            <a:r>
              <a:rPr lang="en-US" dirty="0"/>
              <a:t>	uint4 checksum;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3B693-4D4D-E60D-789F-CEAC641E1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007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tone statue with a tray of food&#10;&#10;AI-generated content may be incorrect.">
            <a:extLst>
              <a:ext uri="{FF2B5EF4-FFF2-40B4-BE49-F238E27FC236}">
                <a16:creationId xmlns:a16="http://schemas.microsoft.com/office/drawing/2014/main" id="{5F646635-D259-3FAC-3EF4-20AB7C7E1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25" y="1115570"/>
            <a:ext cx="3701490" cy="46268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E091B0-E556-6AA9-35E5-F8AD97F13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 descr="A close-up of a table&#10;&#10;AI-generated content may be incorrect.">
            <a:extLst>
              <a:ext uri="{FF2B5EF4-FFF2-40B4-BE49-F238E27FC236}">
                <a16:creationId xmlns:a16="http://schemas.microsoft.com/office/drawing/2014/main" id="{291831AC-1CD6-1D9E-719C-46DD587CA8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487" y="1115570"/>
            <a:ext cx="3701490" cy="462686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C9F33A7-67EA-7631-59A1-B849C7293C62}"/>
              </a:ext>
            </a:extLst>
          </p:cNvPr>
          <p:cNvCxnSpPr>
            <a:cxnSpLocks/>
          </p:cNvCxnSpPr>
          <p:nvPr/>
        </p:nvCxnSpPr>
        <p:spPr>
          <a:xfrm flipV="1">
            <a:off x="5102352" y="3428999"/>
            <a:ext cx="1991868" cy="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BBDEBD9E-3960-58E2-9976-31084BB39EA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F: 0, 1, 2, 3</a:t>
            </a:r>
          </a:p>
          <a:p>
            <a:r>
              <a:rPr lang="en-US" dirty="0"/>
              <a:t>C: Y</a:t>
            </a:r>
          </a:p>
        </p:txBody>
      </p:sp>
    </p:spTree>
    <p:extLst>
      <p:ext uri="{BB962C8B-B14F-4D97-AF65-F5344CB8AC3E}">
        <p14:creationId xmlns:p14="http://schemas.microsoft.com/office/powerpoint/2010/main" val="1117345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D98A7-51AC-4B8C-2826-83A088882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8CD96B-AE13-0021-CF68-79D139462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DE2BE1-AE9E-A740-D508-95310941D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47485" y="1115569"/>
            <a:ext cx="3701489" cy="46268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EFCFB3-221A-22FF-A9FD-BA5C3D8AE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025" y="1115568"/>
            <a:ext cx="3701489" cy="46268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94B4FEC-BB2E-715C-DFBA-1583716256B5}"/>
              </a:ext>
            </a:extLst>
          </p:cNvPr>
          <p:cNvCxnSpPr>
            <a:cxnSpLocks/>
          </p:cNvCxnSpPr>
          <p:nvPr/>
        </p:nvCxnSpPr>
        <p:spPr>
          <a:xfrm flipV="1">
            <a:off x="5102352" y="3428999"/>
            <a:ext cx="1991868" cy="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7EFE0296-9DEC-DDA6-7F9B-CE0F012CE30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F: 0, 1, 2, 3</a:t>
            </a:r>
          </a:p>
          <a:p>
            <a:r>
              <a:rPr lang="en-US" dirty="0"/>
              <a:t>C: </a:t>
            </a:r>
            <a:r>
              <a:rPr lang="en-US" dirty="0" err="1"/>
              <a:t>Cb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919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C8E1B-C313-CCE7-505B-FDFEA320C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403E28-7B97-F3B6-01E8-70AFCE90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10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DCA30F-5DF8-D48C-19DC-7714B56EE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47485" y="1115569"/>
            <a:ext cx="3701488" cy="46268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2217A0-9987-9EF5-3555-E52CE5FEC6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025" y="1115568"/>
            <a:ext cx="3701489" cy="46268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247039F-9D0B-816E-3CD4-E3E0A88A57D1}"/>
              </a:ext>
            </a:extLst>
          </p:cNvPr>
          <p:cNvCxnSpPr>
            <a:cxnSpLocks/>
          </p:cNvCxnSpPr>
          <p:nvPr/>
        </p:nvCxnSpPr>
        <p:spPr>
          <a:xfrm flipV="1">
            <a:off x="5102352" y="3428999"/>
            <a:ext cx="1991868" cy="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6F42FCDB-8C95-1FE6-7CC6-31F122A9989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F: 0, 1, 2, 3</a:t>
            </a:r>
          </a:p>
          <a:p>
            <a:r>
              <a:rPr lang="en-US" dirty="0"/>
              <a:t>C: Cr</a:t>
            </a:r>
          </a:p>
        </p:txBody>
      </p:sp>
    </p:spTree>
    <p:extLst>
      <p:ext uri="{BB962C8B-B14F-4D97-AF65-F5344CB8AC3E}">
        <p14:creationId xmlns:p14="http://schemas.microsoft.com/office/powerpoint/2010/main" val="3244835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61164-3314-B9FB-0E34-B2F975682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BB8A49-F1FD-EDB2-F39F-A77E9201D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9B7311-6DBA-9297-18D0-8CA246ED3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47485" y="1115568"/>
            <a:ext cx="3701490" cy="46268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 descr="A stone statue with a tray of food&#10;&#10;AI-generated content may be incorrect.">
            <a:extLst>
              <a:ext uri="{FF2B5EF4-FFF2-40B4-BE49-F238E27FC236}">
                <a16:creationId xmlns:a16="http://schemas.microsoft.com/office/drawing/2014/main" id="{DEA6839A-218E-1FC9-3823-0D0C0539C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25" y="1115568"/>
            <a:ext cx="3701490" cy="46268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3541AFC-FD41-7930-A8AB-1A0854E61F7B}"/>
              </a:ext>
            </a:extLst>
          </p:cNvPr>
          <p:cNvCxnSpPr>
            <a:cxnSpLocks/>
          </p:cNvCxnSpPr>
          <p:nvPr/>
        </p:nvCxnSpPr>
        <p:spPr>
          <a:xfrm flipV="1">
            <a:off x="5102352" y="3428999"/>
            <a:ext cx="1991868" cy="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6D9BE9D3-7851-5B6F-2307-514AA29A1F2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F: 1, 2, 3, 4</a:t>
            </a:r>
          </a:p>
          <a:p>
            <a:r>
              <a:rPr lang="en-US" dirty="0"/>
              <a:t>C: Y</a:t>
            </a:r>
          </a:p>
        </p:txBody>
      </p:sp>
    </p:spTree>
    <p:extLst>
      <p:ext uri="{BB962C8B-B14F-4D97-AF65-F5344CB8AC3E}">
        <p14:creationId xmlns:p14="http://schemas.microsoft.com/office/powerpoint/2010/main" val="3089359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4FC0B-1317-5123-3A12-D96558437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B9874C-1646-73FF-20AC-CBAFB8053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E3C77-265E-4601-8CDA-33F591272149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CE12B4-E7DA-A1BA-2296-B17D4F1B8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47485" y="1115568"/>
            <a:ext cx="3701489" cy="46268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47F26E-A9E3-64F2-AE9D-3E23EE264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025" y="1115568"/>
            <a:ext cx="3701489" cy="46268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60CA95B-8224-91D0-5CF2-6A00BD09B67A}"/>
              </a:ext>
            </a:extLst>
          </p:cNvPr>
          <p:cNvCxnSpPr>
            <a:cxnSpLocks/>
          </p:cNvCxnSpPr>
          <p:nvPr/>
        </p:nvCxnSpPr>
        <p:spPr>
          <a:xfrm flipV="1">
            <a:off x="5102352" y="3428999"/>
            <a:ext cx="1991868" cy="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4645EC71-3117-F71D-A131-1FCFFD2AEBD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F: 60, 61, 62, 63</a:t>
            </a:r>
          </a:p>
          <a:p>
            <a:r>
              <a:rPr lang="en-US" dirty="0"/>
              <a:t>C: Y</a:t>
            </a:r>
          </a:p>
        </p:txBody>
      </p:sp>
    </p:spTree>
    <p:extLst>
      <p:ext uri="{BB962C8B-B14F-4D97-AF65-F5344CB8AC3E}">
        <p14:creationId xmlns:p14="http://schemas.microsoft.com/office/powerpoint/2010/main" val="1993601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</TotalTime>
  <Words>303</Words>
  <Application>Microsoft Office PowerPoint</Application>
  <PresentationFormat>Widescreen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Jpeg Steganogaphy</vt:lpstr>
      <vt:lpstr>Table of Contents</vt:lpstr>
      <vt:lpstr>Steganography</vt:lpstr>
      <vt:lpstr>Jpeg</vt:lpstr>
      <vt:lpstr>DCT Tables</vt:lpstr>
      <vt:lpstr>My Approach</vt:lpstr>
      <vt:lpstr>Structure of Data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Ghaffarian</dc:creator>
  <cp:lastModifiedBy>Ali Ghaffarian</cp:lastModifiedBy>
  <cp:revision>28</cp:revision>
  <dcterms:created xsi:type="dcterms:W3CDTF">2025-10-17T10:34:58Z</dcterms:created>
  <dcterms:modified xsi:type="dcterms:W3CDTF">2025-11-24T16:27:04Z</dcterms:modified>
</cp:coreProperties>
</file>