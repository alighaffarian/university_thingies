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comments/comment2.xml" ContentType="application/vnd.openxmlformats-officedocument.presentationml.comment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</p:sldIdLst>
  <p:sldSz cx="12192000" cy="6858000"/>
  <p:notesSz cx="6858000" cy="9144000"/>
</p:presentation>
</file>

<file path=ppt/commentAuthors.xml><?xml version="1.0" encoding="utf-8"?>
<p:cmAuthorLst xmlns:p="http://schemas.openxmlformats.org/presentationml/2006/main">
  <p:cmAuthor id="0" name="ali ghaffarian" initials="a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presProps" Target="presProps.xml"/><Relationship Id="rId38" Type="http://schemas.openxmlformats.org/officeDocument/2006/relationships/commentAuthors" Target="commentAuthors.xml"/>
</Relationships>
</file>

<file path=ppt/comments/comment2.xml><?xml version="1.0" encoding="utf-8"?>
<p:cmLst xmlns:p="http://schemas.openxmlformats.org/presentationml/2006/main">
  <p:cm authorId="0" dt="2024-11-20T11:01:10.631000000" idx="1">
    <p:pos x="0" y="0"/>
    <p:text/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Click to move the slide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FreeSerif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r">
              <a:buNone/>
            </a:pPr>
            <a:fld id="{0020F944-97F1-48B6-84DF-8296702BDF46}" type="slidenum"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1</a:t>
            </a:fld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A74FB58-88FE-46A5-99AA-68E0E332A6B3}" type="slidenum">
              <a:rPr b="0" lang="en-US" sz="1200" strike="noStrike" u="none">
                <a:solidFill>
                  <a:srgbClr val="000000"/>
                </a:solidFill>
                <a:uFillTx/>
                <a:latin typeface="FreeSerif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FreeSerif"/>
              </a:rPr>
              <a:t>the most used reliable data transfer protocol</a:t>
            </a:r>
            <a:endParaRPr b="0" lang="en-US" sz="20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OpenSymbol"/>
              <a:buChar char="-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FreeSerif"/>
              </a:rPr>
              <a:t>In order and without corruption of data</a:t>
            </a:r>
            <a:endParaRPr b="0" lang="en-US" sz="20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A66DFE5-A44E-402F-917B-4D40CE04119D}" type="slidenum">
              <a:rPr b="0" lang="en-US" sz="1200" strike="noStrike" u="none">
                <a:solidFill>
                  <a:srgbClr val="000000"/>
                </a:solidFill>
                <a:uFillTx/>
                <a:latin typeface="FreeSerif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EAF728B-79B1-40DE-9272-6BE43BC32E4C}" type="slidenum">
              <a:rPr b="0" lang="en-US" sz="1200" strike="noStrike" u="none">
                <a:solidFill>
                  <a:srgbClr val="000000"/>
                </a:solidFill>
                <a:uFillTx/>
                <a:latin typeface="FreeSerif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361B99F-C176-4FD1-BFC9-22DB73B07F4A}" type="slidenum">
              <a:rPr b="0" lang="en-US" sz="1200" strike="noStrike" u="none">
                <a:solidFill>
                  <a:srgbClr val="000000"/>
                </a:solidFill>
                <a:uFillTx/>
                <a:latin typeface="FreeSerif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A56A23A-724F-4603-BC4C-72F2DE729A43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DF09FABE-452B-4018-A3D2-814A90C7CE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DC514FE9-629C-46F3-97CB-7BAE93F7D8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32225925-C371-4383-8EB0-D674E5CC86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F2589244-E059-4B78-97C2-AF7F2E2BB2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EB330BEB-CF65-4406-AF26-D13C3F415BF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3F0FCFDE-66B9-48A8-B6EA-870DFF329B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A1532C3D-01AC-43A4-8B24-FAEE9057BD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1BD17932-8B1F-4B59-9274-D953D65F696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59B5B506-6C83-4D63-968B-7E355E559A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31BAB40C-AA5F-4411-99E5-17AC9E92657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eba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8302320" y="6253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6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BEE4EA-775A-417D-95DF-3073673FDB97}" type="slidenum">
              <a:rPr b="0" lang="en-US" sz="16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6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Click to edit the title </a:t>
            </a: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text format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the outline text format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Second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Click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to edit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Maste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r title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BC5A8D-9C4C-47C1-B98F-2D372532EE5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Cli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ck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to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edi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Ma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ste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r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titl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e 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sty</a:t>
            </a: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ftr" idx="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F86D1AF-7048-4E23-99C8-BCB89912D0B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1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C9198C-3C51-46DD-B84A-31D6A91FCA6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uFillTx/>
                <a:latin typeface="Calibri Light"/>
              </a:rPr>
              <a:t>Click to edit Master title style</a:t>
            </a:r>
            <a:endParaRPr b="0" lang="en-US" sz="6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AE98AED-CCAD-4F03-A5AB-C398D57CF17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9127D6-B241-4044-B6C9-B97FA56891E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dt" idx="1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ftr" idx="1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41" name="PlaceHolder 8"/>
          <p:cNvSpPr>
            <a:spLocks noGrp="1"/>
          </p:cNvSpPr>
          <p:nvPr>
            <p:ph type="sldNum" idx="1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B1EE3D-4018-42BA-ABE5-2748A7125B1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dt" idx="2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ftr" idx="2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sldNum" idx="2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CAAE19-BF39-4549-AD94-8B899B89B58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dt" idx="2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ftr" idx="2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2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FB8D48-8975-4937-B87D-3E283FF1027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1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 Light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dt" idx="2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ftr" idx="2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55" name="PlaceHolder 6"/>
          <p:cNvSpPr>
            <a:spLocks noGrp="1"/>
          </p:cNvSpPr>
          <p:nvPr>
            <p:ph type="sldNum" idx="2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92686E-9C65-49DC-8E6B-7A5DA45DD2F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 Light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uFillTx/>
                <a:latin typeface="Calibri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dt" idx="2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ftr" idx="3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FreeSerif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FreeSerif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61" name="PlaceHolder 6"/>
          <p:cNvSpPr>
            <a:spLocks noGrp="1"/>
          </p:cNvSpPr>
          <p:nvPr>
            <p:ph type="sldNum" idx="3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0EF364-603A-46CD-AEEC-CE6DA147F5E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523880" y="6372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Transport Layer, TCP</a:t>
            </a:r>
            <a:br>
              <a:rPr sz="4400"/>
            </a:b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and Floods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2244600" y="2004120"/>
            <a:ext cx="2216520" cy="4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uFillTx/>
                <a:latin typeface="Calibri"/>
              </a:rPr>
              <a:t>Ali Ghaffarian</a:t>
            </a:r>
            <a:endParaRPr b="0" lang="en-US" sz="2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6521040" y="1985760"/>
            <a:ext cx="2622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none">
                <a:solidFill>
                  <a:schemeClr val="dk1"/>
                </a:solidFill>
                <a:uFillTx/>
                <a:latin typeface="Calibri"/>
              </a:rPr>
              <a:t>December 1, 2024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pic>
        <p:nvPicPr>
          <p:cNvPr id="71" name="Picture 9" descr=""/>
          <p:cNvPicPr/>
          <p:nvPr/>
        </p:nvPicPr>
        <p:blipFill>
          <a:blip r:embed="rId1"/>
          <a:stretch/>
        </p:blipFill>
        <p:spPr>
          <a:xfrm>
            <a:off x="1219320" y="1981080"/>
            <a:ext cx="9753120" cy="487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extBox 3"/>
          <p:cNvSpPr/>
          <p:nvPr/>
        </p:nvSpPr>
        <p:spPr>
          <a:xfrm>
            <a:off x="2756880" y="1819440"/>
            <a:ext cx="2345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Ali Ghaffarian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73" name="TextBox 4"/>
          <p:cNvSpPr/>
          <p:nvPr/>
        </p:nvSpPr>
        <p:spPr>
          <a:xfrm>
            <a:off x="7088760" y="1819440"/>
            <a:ext cx="2345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December 1, 2024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18049B7-5B41-4725-AF11-2C241169CBBB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About Me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5" name="TextBox 4"/>
          <p:cNvSpPr/>
          <p:nvPr/>
        </p:nvSpPr>
        <p:spPr>
          <a:xfrm>
            <a:off x="1523880" y="2346120"/>
            <a:ext cx="960552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Linux and Computer Network Deep Diver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Github: github.com/AliGhaffarian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5103449-37AD-4257-A86C-4F44B7FC7A63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Table of contents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7" name="TextBox 4"/>
          <p:cNvSpPr/>
          <p:nvPr/>
        </p:nvSpPr>
        <p:spPr>
          <a:xfrm>
            <a:off x="1206720" y="2346120"/>
            <a:ext cx="6230880" cy="25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Transport Layer in TCP/IP Stack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TCP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The Three Way Handshake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SYN Floods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SYN Cookies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884D186-3AAC-451A-9592-4D1FD79B0A1E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Transport Layer in TCP/IP Stack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4898880" y="3637080"/>
            <a:ext cx="2393640" cy="15645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uFillTx/>
                <a:latin typeface="Calibri"/>
              </a:rPr>
              <a:t>Transport Layer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uFillTx/>
                <a:latin typeface="Calibri"/>
              </a:rPr>
              <a:t>(TCP)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From Application 541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To Application 211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80" name="Straight Arrow Connector 9"/>
          <p:cNvCxnSpPr>
            <a:stCxn id="81" idx="0"/>
            <a:endCxn id="79" idx="1"/>
          </p:cNvCxnSpPr>
          <p:nvPr/>
        </p:nvCxnSpPr>
        <p:spPr>
          <a:xfrm flipV="1">
            <a:off x="3190680" y="4419360"/>
            <a:ext cx="1708560" cy="56268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82" name="Straight Arrow Connector 11"/>
          <p:cNvCxnSpPr>
            <a:stCxn id="79" idx="3"/>
            <a:endCxn id="83" idx="2"/>
          </p:cNvCxnSpPr>
          <p:nvPr/>
        </p:nvCxnSpPr>
        <p:spPr>
          <a:xfrm flipV="1">
            <a:off x="7292520" y="3982680"/>
            <a:ext cx="1708200" cy="43704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83" name="Rectangle 1"/>
          <p:cNvSpPr/>
          <p:nvPr/>
        </p:nvSpPr>
        <p:spPr>
          <a:xfrm>
            <a:off x="7803720" y="2418120"/>
            <a:ext cx="2393640" cy="15645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Layer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(Web browsers)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User’s POV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81" name="Rectangle 5"/>
          <p:cNvSpPr/>
          <p:nvPr/>
        </p:nvSpPr>
        <p:spPr>
          <a:xfrm>
            <a:off x="1994040" y="4981680"/>
            <a:ext cx="2393640" cy="15645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uFillTx/>
                <a:latin typeface="Calibri"/>
              </a:rPr>
              <a:t>Network Layer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uFillTx/>
                <a:latin typeface="Calibri"/>
              </a:rPr>
              <a:t>(IP)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Which Computer?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From Computer 1.1.1.1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To Computer 1.1.1.2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88B8B68-0495-4032-B4A5-6558CB997001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TCP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7944480" y="2503080"/>
            <a:ext cx="2112120" cy="9255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Layer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86" name="Rectangle 2"/>
          <p:cNvSpPr/>
          <p:nvPr/>
        </p:nvSpPr>
        <p:spPr>
          <a:xfrm>
            <a:off x="5029200" y="3722400"/>
            <a:ext cx="2133360" cy="925560"/>
          </a:xfrm>
          <a:prstGeom prst="rect">
            <a:avLst/>
          </a:prstGeom>
          <a:solidFill>
            <a:srgbClr val="ffff00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TCP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(Reliable)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87" name="Rectangle 5"/>
          <p:cNvSpPr/>
          <p:nvPr/>
        </p:nvSpPr>
        <p:spPr>
          <a:xfrm>
            <a:off x="2124360" y="5067000"/>
            <a:ext cx="2133360" cy="9255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Internet Protocol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(Unreliable)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88" name="Straight Arrow Connector 9"/>
          <p:cNvCxnSpPr>
            <a:stCxn id="87" idx="0"/>
            <a:endCxn id="86" idx="1"/>
          </p:cNvCxnSpPr>
          <p:nvPr/>
        </p:nvCxnSpPr>
        <p:spPr>
          <a:xfrm flipV="1">
            <a:off x="3191040" y="4185000"/>
            <a:ext cx="1838520" cy="88236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89" name="Straight Arrow Connector 11"/>
          <p:cNvCxnSpPr>
            <a:stCxn id="86" idx="3"/>
            <a:endCxn id="85" idx="2"/>
          </p:cNvCxnSpPr>
          <p:nvPr/>
        </p:nvCxnSpPr>
        <p:spPr>
          <a:xfrm flipV="1">
            <a:off x="7162560" y="3428640"/>
            <a:ext cx="1838160" cy="75672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A16A410-76AF-4643-8ED3-984E0E669D13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93"/>
          <p:cNvSpPr/>
          <p:nvPr/>
        </p:nvSpPr>
        <p:spPr>
          <a:xfrm>
            <a:off x="6095880" y="-313920"/>
            <a:ext cx="6486840" cy="7171560"/>
          </a:xfrm>
          <a:prstGeom prst="rect">
            <a:avLst/>
          </a:prstGeom>
          <a:solidFill>
            <a:srgbClr val="fbe37d"/>
          </a:solidFill>
          <a:ln>
            <a:solidFill>
              <a:srgbClr val="fbe3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91" name="Rectangle 5"/>
          <p:cNvSpPr/>
          <p:nvPr/>
        </p:nvSpPr>
        <p:spPr>
          <a:xfrm>
            <a:off x="655560" y="2067840"/>
            <a:ext cx="1967040" cy="703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1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92" name="Rectangle 10"/>
          <p:cNvSpPr/>
          <p:nvPr/>
        </p:nvSpPr>
        <p:spPr>
          <a:xfrm>
            <a:off x="655560" y="3566520"/>
            <a:ext cx="1967040" cy="703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2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93" name="Rectangle 11"/>
          <p:cNvSpPr/>
          <p:nvPr/>
        </p:nvSpPr>
        <p:spPr>
          <a:xfrm>
            <a:off x="655560" y="5065200"/>
            <a:ext cx="1967040" cy="703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3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94" name="Rectangle 12"/>
          <p:cNvSpPr/>
          <p:nvPr/>
        </p:nvSpPr>
        <p:spPr>
          <a:xfrm>
            <a:off x="3480120" y="3575160"/>
            <a:ext cx="1049400" cy="6865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TCP 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95" name="Straight Arrow Connector 14"/>
          <p:cNvCxnSpPr>
            <a:stCxn id="91" idx="3"/>
            <a:endCxn id="94" idx="1"/>
          </p:cNvCxnSpPr>
          <p:nvPr/>
        </p:nvCxnSpPr>
        <p:spPr>
          <a:xfrm>
            <a:off x="2622600" y="2419560"/>
            <a:ext cx="857880" cy="149904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cxnSp>
        <p:nvCxnSpPr>
          <p:cNvPr id="96" name="Straight Arrow Connector 19"/>
          <p:cNvCxnSpPr>
            <a:stCxn id="92" idx="3"/>
            <a:endCxn id="94" idx="1"/>
          </p:cNvCxnSpPr>
          <p:nvPr/>
        </p:nvCxnSpPr>
        <p:spPr>
          <a:xfrm>
            <a:off x="2622600" y="3918240"/>
            <a:ext cx="857880" cy="36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cxnSp>
        <p:nvCxnSpPr>
          <p:cNvPr id="97" name="Straight Arrow Connector 25"/>
          <p:cNvCxnSpPr>
            <a:stCxn id="93" idx="3"/>
            <a:endCxn id="94" idx="1"/>
          </p:cNvCxnSpPr>
          <p:nvPr/>
        </p:nvCxnSpPr>
        <p:spPr>
          <a:xfrm flipV="1">
            <a:off x="2622600" y="3918240"/>
            <a:ext cx="857880" cy="149904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sp>
        <p:nvSpPr>
          <p:cNvPr id="98" name="Rectangle 27"/>
          <p:cNvSpPr/>
          <p:nvPr/>
        </p:nvSpPr>
        <p:spPr>
          <a:xfrm>
            <a:off x="9604080" y="2067840"/>
            <a:ext cx="1967040" cy="703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1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99" name="Rectangle 28"/>
          <p:cNvSpPr/>
          <p:nvPr/>
        </p:nvSpPr>
        <p:spPr>
          <a:xfrm>
            <a:off x="9604080" y="3566520"/>
            <a:ext cx="1967040" cy="703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2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00" name="Rectangle 29"/>
          <p:cNvSpPr/>
          <p:nvPr/>
        </p:nvSpPr>
        <p:spPr>
          <a:xfrm>
            <a:off x="9604080" y="5065200"/>
            <a:ext cx="1967040" cy="703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3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01" name="Rectangle 40"/>
          <p:cNvSpPr/>
          <p:nvPr/>
        </p:nvSpPr>
        <p:spPr>
          <a:xfrm>
            <a:off x="7616160" y="3575160"/>
            <a:ext cx="1049400" cy="6865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TCP 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102" name="Straight Arrow Connector 44"/>
          <p:cNvCxnSpPr>
            <a:stCxn id="99" idx="1"/>
            <a:endCxn id="101" idx="3"/>
          </p:cNvCxnSpPr>
          <p:nvPr/>
        </p:nvCxnSpPr>
        <p:spPr>
          <a:xfrm flipH="1">
            <a:off x="8665560" y="3918240"/>
            <a:ext cx="938880" cy="36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cxnSp>
        <p:nvCxnSpPr>
          <p:cNvPr id="103" name="Straight Arrow Connector 46"/>
          <p:cNvCxnSpPr>
            <a:stCxn id="100" idx="1"/>
            <a:endCxn id="101" idx="3"/>
          </p:cNvCxnSpPr>
          <p:nvPr/>
        </p:nvCxnSpPr>
        <p:spPr>
          <a:xfrm flipH="1" flipV="1">
            <a:off x="8665560" y="3918240"/>
            <a:ext cx="938880" cy="149904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cxnSp>
        <p:nvCxnSpPr>
          <p:cNvPr id="104" name="Straight Arrow Connector 70"/>
          <p:cNvCxnSpPr>
            <a:stCxn id="98" idx="1"/>
            <a:endCxn id="101" idx="3"/>
          </p:cNvCxnSpPr>
          <p:nvPr/>
        </p:nvCxnSpPr>
        <p:spPr>
          <a:xfrm flipH="1">
            <a:off x="8665560" y="2419560"/>
            <a:ext cx="938880" cy="149904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sp>
        <p:nvSpPr>
          <p:cNvPr id="105" name="Rectangle 76"/>
          <p:cNvSpPr/>
          <p:nvPr/>
        </p:nvSpPr>
        <p:spPr>
          <a:xfrm>
            <a:off x="5206320" y="3575160"/>
            <a:ext cx="1778760" cy="68652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IP 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106" name="Straight Arrow Connector 86"/>
          <p:cNvCxnSpPr>
            <a:stCxn id="94" idx="3"/>
            <a:endCxn id="105" idx="1"/>
          </p:cNvCxnSpPr>
          <p:nvPr/>
        </p:nvCxnSpPr>
        <p:spPr>
          <a:xfrm>
            <a:off x="4529520" y="3918240"/>
            <a:ext cx="677160" cy="36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cxnSp>
        <p:nvCxnSpPr>
          <p:cNvPr id="107" name="Straight Arrow Connector 91"/>
          <p:cNvCxnSpPr>
            <a:stCxn id="101" idx="1"/>
            <a:endCxn id="105" idx="3"/>
          </p:cNvCxnSpPr>
          <p:nvPr/>
        </p:nvCxnSpPr>
        <p:spPr>
          <a:xfrm flipH="1">
            <a:off x="6985080" y="3918240"/>
            <a:ext cx="631440" cy="360"/>
          </a:xfrm>
          <a:prstGeom prst="straightConnector1">
            <a:avLst/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81440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Multiplexing / Demultiplexing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B888B1B-4D03-494E-B3C7-30BF6AD50CD5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3"/>
          <p:cNvSpPr/>
          <p:nvPr/>
        </p:nvSpPr>
        <p:spPr>
          <a:xfrm>
            <a:off x="6095880" y="-313920"/>
            <a:ext cx="6486840" cy="7171560"/>
          </a:xfrm>
          <a:prstGeom prst="rect">
            <a:avLst/>
          </a:prstGeom>
          <a:solidFill>
            <a:srgbClr val="fbe37d"/>
          </a:solidFill>
          <a:ln>
            <a:solidFill>
              <a:srgbClr val="fbe3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cxnSp>
        <p:nvCxnSpPr>
          <p:cNvPr id="110" name="Straight Arrow Connector 56"/>
          <p:cNvCxnSpPr>
            <a:endCxn id="111" idx="2"/>
          </p:cNvCxnSpPr>
          <p:nvPr/>
        </p:nvCxnSpPr>
        <p:spPr>
          <a:xfrm flipH="1" flipV="1">
            <a:off x="7385040" y="2799720"/>
            <a:ext cx="720" cy="3009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12" name="Straight Arrow Connector 55"/>
          <p:cNvCxnSpPr/>
          <p:nvPr/>
        </p:nvCxnSpPr>
        <p:spPr>
          <a:xfrm flipH="1" flipV="1">
            <a:off x="11245320" y="3419280"/>
            <a:ext cx="12960" cy="197892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13" name="Straight Arrow Connector 54"/>
          <p:cNvCxnSpPr/>
          <p:nvPr/>
        </p:nvCxnSpPr>
        <p:spPr>
          <a:xfrm flipV="1">
            <a:off x="8205840" y="3419280"/>
            <a:ext cx="360" cy="197892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14" name="Rectangle 1"/>
          <p:cNvSpPr/>
          <p:nvPr/>
        </p:nvSpPr>
        <p:spPr>
          <a:xfrm>
            <a:off x="370440" y="646920"/>
            <a:ext cx="3839400" cy="9432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layer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115" name="Straight Arrow Connector 6"/>
          <p:cNvCxnSpPr>
            <a:stCxn id="114" idx="2"/>
            <a:endCxn id="116" idx="0"/>
          </p:cNvCxnSpPr>
          <p:nvPr/>
        </p:nvCxnSpPr>
        <p:spPr>
          <a:xfrm>
            <a:off x="2289960" y="1590120"/>
            <a:ext cx="360" cy="8956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17" name="Rectangle: Diagonal Corners Rounded 7"/>
          <p:cNvSpPr/>
          <p:nvPr/>
        </p:nvSpPr>
        <p:spPr>
          <a:xfrm>
            <a:off x="1492560" y="1765440"/>
            <a:ext cx="1594800" cy="427680"/>
          </a:xfrm>
          <a:prstGeom prst="round2DiagRect">
            <a:avLst>
              <a:gd name="adj1" fmla="val 16667"/>
              <a:gd name="adj2" fmla="val 0"/>
            </a:avLst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send(“hello”)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18" name="Rectangle 8"/>
          <p:cNvSpPr/>
          <p:nvPr/>
        </p:nvSpPr>
        <p:spPr>
          <a:xfrm>
            <a:off x="4210200" y="2474280"/>
            <a:ext cx="1176840" cy="325440"/>
          </a:xfrm>
          <a:prstGeom prst="rect">
            <a:avLst/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Hello”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19" name="Rectangle 9"/>
          <p:cNvSpPr/>
          <p:nvPr/>
        </p:nvSpPr>
        <p:spPr>
          <a:xfrm>
            <a:off x="4215600" y="3104280"/>
            <a:ext cx="609840" cy="325440"/>
          </a:xfrm>
          <a:prstGeom prst="rect">
            <a:avLst/>
          </a:prstGeom>
          <a:solidFill>
            <a:srgbClr val="5b9bd5"/>
          </a:solidFill>
          <a:ln>
            <a:solidFill>
              <a:srgbClr val="27435d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he”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20" name="Rectangle 15"/>
          <p:cNvSpPr/>
          <p:nvPr/>
        </p:nvSpPr>
        <p:spPr>
          <a:xfrm>
            <a:off x="4825800" y="3104640"/>
            <a:ext cx="609840" cy="32544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ll”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21" name="Rectangle 16"/>
          <p:cNvSpPr/>
          <p:nvPr/>
        </p:nvSpPr>
        <p:spPr>
          <a:xfrm>
            <a:off x="5435640" y="3104280"/>
            <a:ext cx="609840" cy="325440"/>
          </a:xfrm>
          <a:prstGeom prst="rect">
            <a:avLst/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o”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cxnSp>
        <p:nvCxnSpPr>
          <p:cNvPr id="122" name="Straight Arrow Connector 18"/>
          <p:cNvCxnSpPr>
            <a:stCxn id="118" idx="2"/>
          </p:cNvCxnSpPr>
          <p:nvPr/>
        </p:nvCxnSpPr>
        <p:spPr>
          <a:xfrm>
            <a:off x="4798440" y="2799720"/>
            <a:ext cx="720" cy="30096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23" name="Straight Arrow Connector 20"/>
          <p:cNvCxnSpPr/>
          <p:nvPr/>
        </p:nvCxnSpPr>
        <p:spPr>
          <a:xfrm>
            <a:off x="1015200" y="3421800"/>
            <a:ext cx="360" cy="197640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24" name="Rectangle: Diagonal Corners Rounded 21"/>
          <p:cNvSpPr/>
          <p:nvPr/>
        </p:nvSpPr>
        <p:spPr>
          <a:xfrm>
            <a:off x="371520" y="4141800"/>
            <a:ext cx="1287360" cy="4276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5b9bd5"/>
          </a:solidFill>
          <a:ln>
            <a:solidFill>
              <a:srgbClr val="27435d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send(“he”)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cxnSp>
        <p:nvCxnSpPr>
          <p:cNvPr id="125" name="Straight Arrow Connector 22"/>
          <p:cNvCxnSpPr/>
          <p:nvPr/>
        </p:nvCxnSpPr>
        <p:spPr>
          <a:xfrm>
            <a:off x="2359080" y="3421800"/>
            <a:ext cx="360" cy="197640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26" name="Rectangle: Diagonal Corners Rounded 23"/>
          <p:cNvSpPr/>
          <p:nvPr/>
        </p:nvSpPr>
        <p:spPr>
          <a:xfrm>
            <a:off x="1725480" y="4141800"/>
            <a:ext cx="1287360" cy="4276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send(“ll”)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cxnSp>
        <p:nvCxnSpPr>
          <p:cNvPr id="127" name="Straight Arrow Connector 30"/>
          <p:cNvCxnSpPr/>
          <p:nvPr/>
        </p:nvCxnSpPr>
        <p:spPr>
          <a:xfrm>
            <a:off x="3699360" y="3421800"/>
            <a:ext cx="360" cy="197640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28" name="Rectangle: Diagonal Corners Rounded 31"/>
          <p:cNvSpPr/>
          <p:nvPr/>
        </p:nvSpPr>
        <p:spPr>
          <a:xfrm>
            <a:off x="3066120" y="4141800"/>
            <a:ext cx="1287360" cy="4276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send(“o”)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29" name="Rectangle 32"/>
          <p:cNvSpPr/>
          <p:nvPr/>
        </p:nvSpPr>
        <p:spPr>
          <a:xfrm>
            <a:off x="7981200" y="637200"/>
            <a:ext cx="3839400" cy="9432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Application layer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130" name="Straight Arrow Connector 34"/>
          <p:cNvCxnSpPr>
            <a:stCxn id="131" idx="0"/>
            <a:endCxn id="129" idx="2"/>
          </p:cNvCxnSpPr>
          <p:nvPr/>
        </p:nvCxnSpPr>
        <p:spPr>
          <a:xfrm flipV="1">
            <a:off x="9900720" y="1580400"/>
            <a:ext cx="360" cy="8956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32" name="Rectangle: Diagonal Corners Rounded 35"/>
          <p:cNvSpPr/>
          <p:nvPr/>
        </p:nvSpPr>
        <p:spPr>
          <a:xfrm>
            <a:off x="9005040" y="1761120"/>
            <a:ext cx="1792080" cy="427680"/>
          </a:xfrm>
          <a:prstGeom prst="round2DiagRect">
            <a:avLst>
              <a:gd name="adj1" fmla="val 16667"/>
              <a:gd name="adj2" fmla="val 0"/>
            </a:avLst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receive(“hello”)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11" name="Rectangle 36"/>
          <p:cNvSpPr/>
          <p:nvPr/>
        </p:nvSpPr>
        <p:spPr>
          <a:xfrm>
            <a:off x="6796800" y="2474280"/>
            <a:ext cx="1176840" cy="325440"/>
          </a:xfrm>
          <a:prstGeom prst="rect">
            <a:avLst/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Hello”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33" name="Rectangle 37"/>
          <p:cNvSpPr/>
          <p:nvPr/>
        </p:nvSpPr>
        <p:spPr>
          <a:xfrm>
            <a:off x="6142680" y="3096720"/>
            <a:ext cx="609840" cy="325440"/>
          </a:xfrm>
          <a:prstGeom prst="rect">
            <a:avLst/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o”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34" name="Rectangle 39"/>
          <p:cNvSpPr/>
          <p:nvPr/>
        </p:nvSpPr>
        <p:spPr>
          <a:xfrm>
            <a:off x="7362720" y="3096720"/>
            <a:ext cx="609840" cy="325440"/>
          </a:xfrm>
          <a:prstGeom prst="rect">
            <a:avLst/>
          </a:prstGeom>
          <a:solidFill>
            <a:srgbClr val="5b9bd5"/>
          </a:solidFill>
          <a:ln>
            <a:solidFill>
              <a:srgbClr val="27435d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he”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35" name="Rectangle: Diagonal Corners Rounded 41"/>
          <p:cNvSpPr/>
          <p:nvPr/>
        </p:nvSpPr>
        <p:spPr>
          <a:xfrm>
            <a:off x="7463880" y="4132080"/>
            <a:ext cx="1475640" cy="4276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receive(“o”)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cxnSp>
        <p:nvCxnSpPr>
          <p:cNvPr id="136" name="Straight Arrow Connector 42"/>
          <p:cNvCxnSpPr/>
          <p:nvPr/>
        </p:nvCxnSpPr>
        <p:spPr>
          <a:xfrm flipV="1">
            <a:off x="9725400" y="3419280"/>
            <a:ext cx="360" cy="197892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37" name="Rectangle: Diagonal Corners Rounded 43"/>
          <p:cNvSpPr/>
          <p:nvPr/>
        </p:nvSpPr>
        <p:spPr>
          <a:xfrm>
            <a:off x="8987760" y="4132080"/>
            <a:ext cx="1475640" cy="4276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5b9bd5"/>
          </a:solidFill>
          <a:ln>
            <a:solidFill>
              <a:srgbClr val="27435d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receive(“he”)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38" name="Rectangle: Diagonal Corners Rounded 45"/>
          <p:cNvSpPr/>
          <p:nvPr/>
        </p:nvSpPr>
        <p:spPr>
          <a:xfrm>
            <a:off x="10519920" y="4132080"/>
            <a:ext cx="1475640" cy="427680"/>
          </a:xfrm>
          <a:prstGeom prst="round2DiagRect">
            <a:avLst>
              <a:gd name="adj1" fmla="val 16667"/>
              <a:gd name="adj2" fmla="val 0"/>
            </a:avLst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receive(“ll”)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16" name="Rectangle 4"/>
          <p:cNvSpPr/>
          <p:nvPr/>
        </p:nvSpPr>
        <p:spPr>
          <a:xfrm>
            <a:off x="370440" y="2485440"/>
            <a:ext cx="3839400" cy="9432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TCP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31" name="Rectangle 33"/>
          <p:cNvSpPr/>
          <p:nvPr/>
        </p:nvSpPr>
        <p:spPr>
          <a:xfrm>
            <a:off x="7981200" y="2475720"/>
            <a:ext cx="3839400" cy="9432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TCP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393480" y="5398200"/>
            <a:ext cx="11309760" cy="9432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Internet Protocol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(Unreliable)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40" name="Rectangle 10"/>
          <p:cNvSpPr/>
          <p:nvPr/>
        </p:nvSpPr>
        <p:spPr>
          <a:xfrm>
            <a:off x="6752160" y="3096720"/>
            <a:ext cx="609840" cy="32544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“</a:t>
            </a: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ll”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141" name="Rectangle 11"/>
          <p:cNvSpPr/>
          <p:nvPr/>
        </p:nvSpPr>
        <p:spPr>
          <a:xfrm>
            <a:off x="-108720" y="0"/>
            <a:ext cx="6185520" cy="7025040"/>
          </a:xfrm>
          <a:prstGeom prst="rect">
            <a:avLst/>
          </a:prstGeom>
          <a:solidFill>
            <a:srgbClr val="fceba5"/>
          </a:solidFill>
          <a:ln>
            <a:solidFill>
              <a:srgbClr val="fceba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42" name="Rectangle 12"/>
          <p:cNvSpPr/>
          <p:nvPr/>
        </p:nvSpPr>
        <p:spPr>
          <a:xfrm>
            <a:off x="6084360" y="3960"/>
            <a:ext cx="6486840" cy="7171560"/>
          </a:xfrm>
          <a:prstGeom prst="rect">
            <a:avLst/>
          </a:prstGeom>
          <a:solidFill>
            <a:srgbClr val="fbe37d"/>
          </a:solidFill>
          <a:ln>
            <a:solidFill>
              <a:srgbClr val="fbe37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3926880" y="584640"/>
            <a:ext cx="4421160" cy="118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US" sz="4000" strike="noStrike" u="none">
                <a:solidFill>
                  <a:schemeClr val="dk1"/>
                </a:solidFill>
                <a:uFillTx/>
                <a:latin typeface="Calibri Light"/>
              </a:rPr>
              <a:t>In Order Delivery</a:t>
            </a:r>
            <a:endParaRPr b="0" lang="en-US" sz="40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D4D1C1A-2DDB-4990-9636-3DA615E14889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xit" presetID="22" presetSubtype="1">
                                  <p:stCondLst>
                                    <p:cond delay="0"/>
                                  </p:stCondLst>
                                  <p:childTnLst>
                                    <p:animEffect filter="wipe(up)" transition="out">
                                      <p:cBhvr additive="repl">
                                        <p:cTn id="6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nodeType="clickEffect" fill="hold" presetClass="exit" presetID="22" presetSubtype="4">
                                  <p:stCondLst>
                                    <p:cond delay="0"/>
                                  </p:stCondLst>
                                  <p:childTnLst>
                                    <p:animEffect filter="wipe(down)" transition="out">
                                      <p:cBhvr additive="repl">
                                        <p:cTn id="1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rgbClr val="fceba5"/>
                </a:solidFill>
                <a:uFillTx/>
                <a:latin typeface="Calibri Light"/>
              </a:rPr>
              <a:t>Out of Order?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5" name="Oval 1"/>
          <p:cNvSpPr/>
          <p:nvPr/>
        </p:nvSpPr>
        <p:spPr>
          <a:xfrm>
            <a:off x="569160" y="2489040"/>
            <a:ext cx="1879200" cy="187920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Source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46" name="Oval 2"/>
          <p:cNvSpPr/>
          <p:nvPr/>
        </p:nvSpPr>
        <p:spPr>
          <a:xfrm>
            <a:off x="3677760" y="2646720"/>
            <a:ext cx="1564560" cy="156456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7" name="Oval 3"/>
          <p:cNvSpPr/>
          <p:nvPr/>
        </p:nvSpPr>
        <p:spPr>
          <a:xfrm>
            <a:off x="6207480" y="1560960"/>
            <a:ext cx="1564560" cy="156456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8" name="Oval 4"/>
          <p:cNvSpPr/>
          <p:nvPr/>
        </p:nvSpPr>
        <p:spPr>
          <a:xfrm>
            <a:off x="6207480" y="3882240"/>
            <a:ext cx="1564560" cy="156456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49" name="Oval 5"/>
          <p:cNvSpPr/>
          <p:nvPr/>
        </p:nvSpPr>
        <p:spPr>
          <a:xfrm>
            <a:off x="9019440" y="2489040"/>
            <a:ext cx="1879200" cy="187920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Destination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150" name="Straight Connector 7"/>
          <p:cNvCxnSpPr>
            <a:stCxn id="145" idx="6"/>
            <a:endCxn id="146" idx="2"/>
          </p:cNvCxnSpPr>
          <p:nvPr/>
        </p:nvCxnSpPr>
        <p:spPr>
          <a:xfrm>
            <a:off x="2448360" y="3428640"/>
            <a:ext cx="1229760" cy="72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51" name="Straight Connector 9"/>
          <p:cNvCxnSpPr>
            <a:stCxn id="146" idx="7"/>
            <a:endCxn id="147" idx="2"/>
          </p:cNvCxnSpPr>
          <p:nvPr/>
        </p:nvCxnSpPr>
        <p:spPr>
          <a:xfrm flipV="1">
            <a:off x="5013360" y="2343240"/>
            <a:ext cx="1194480" cy="53280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52" name="Straight Connector 11"/>
          <p:cNvCxnSpPr>
            <a:stCxn id="146" idx="5"/>
            <a:endCxn id="148" idx="2"/>
          </p:cNvCxnSpPr>
          <p:nvPr/>
        </p:nvCxnSpPr>
        <p:spPr>
          <a:xfrm>
            <a:off x="5013360" y="3982320"/>
            <a:ext cx="1194480" cy="6825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53" name="Straight Connector 13"/>
          <p:cNvCxnSpPr>
            <a:stCxn id="147" idx="6"/>
            <a:endCxn id="149" idx="2"/>
          </p:cNvCxnSpPr>
          <p:nvPr/>
        </p:nvCxnSpPr>
        <p:spPr>
          <a:xfrm>
            <a:off x="7772040" y="2343240"/>
            <a:ext cx="1247760" cy="10857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54" name="Straight Connector 17"/>
          <p:cNvCxnSpPr>
            <a:stCxn id="148" idx="6"/>
            <a:endCxn id="149" idx="2"/>
          </p:cNvCxnSpPr>
          <p:nvPr/>
        </p:nvCxnSpPr>
        <p:spPr>
          <a:xfrm flipV="1">
            <a:off x="7772040" y="3428640"/>
            <a:ext cx="1247760" cy="123624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sp>
        <p:nvSpPr>
          <p:cNvPr id="155" name="Oval 44"/>
          <p:cNvSpPr/>
          <p:nvPr/>
        </p:nvSpPr>
        <p:spPr>
          <a:xfrm>
            <a:off x="1466280" y="4586040"/>
            <a:ext cx="156960" cy="156960"/>
          </a:xfrm>
          <a:prstGeom prst="ellipse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56" name="Oval 45"/>
          <p:cNvSpPr/>
          <p:nvPr/>
        </p:nvSpPr>
        <p:spPr>
          <a:xfrm>
            <a:off x="4379040" y="4586040"/>
            <a:ext cx="156960" cy="156960"/>
          </a:xfrm>
          <a:prstGeom prst="ellipse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57" name="Oval 46"/>
          <p:cNvSpPr/>
          <p:nvPr/>
        </p:nvSpPr>
        <p:spPr>
          <a:xfrm>
            <a:off x="6916320" y="5743080"/>
            <a:ext cx="156960" cy="156960"/>
          </a:xfrm>
          <a:prstGeom prst="ellipse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58" name="Oval 47"/>
          <p:cNvSpPr/>
          <p:nvPr/>
        </p:nvSpPr>
        <p:spPr>
          <a:xfrm>
            <a:off x="9020880" y="4093560"/>
            <a:ext cx="156960" cy="156960"/>
          </a:xfrm>
          <a:prstGeom prst="ellipse">
            <a:avLst/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cxnSp>
        <p:nvCxnSpPr>
          <p:cNvPr id="159" name="Straight Arrow Connector 49"/>
          <p:cNvCxnSpPr>
            <a:stCxn id="155" idx="6"/>
            <a:endCxn id="156" idx="2"/>
          </p:cNvCxnSpPr>
          <p:nvPr/>
        </p:nvCxnSpPr>
        <p:spPr>
          <a:xfrm>
            <a:off x="1623240" y="4664520"/>
            <a:ext cx="2756160" cy="360"/>
          </a:xfrm>
          <a:prstGeom prst="straightConnector1">
            <a:avLst/>
          </a:prstGeom>
          <a:ln>
            <a:solidFill>
              <a:srgbClr val="4472c4"/>
            </a:solidFill>
            <a:tailEnd len="med" type="triangle" w="med"/>
          </a:ln>
        </p:spPr>
      </p:cxnSp>
      <p:cxnSp>
        <p:nvCxnSpPr>
          <p:cNvPr id="160" name="Straight Arrow Connector 51"/>
          <p:cNvCxnSpPr>
            <a:stCxn id="156" idx="6"/>
            <a:endCxn id="157" idx="2"/>
          </p:cNvCxnSpPr>
          <p:nvPr/>
        </p:nvCxnSpPr>
        <p:spPr>
          <a:xfrm>
            <a:off x="4536000" y="4664520"/>
            <a:ext cx="2380680" cy="1157400"/>
          </a:xfrm>
          <a:prstGeom prst="straightConnector1">
            <a:avLst/>
          </a:prstGeom>
          <a:ln>
            <a:solidFill>
              <a:srgbClr val="4472c4"/>
            </a:solidFill>
            <a:tailEnd len="med" type="triangle" w="med"/>
          </a:ln>
        </p:spPr>
      </p:cxnSp>
      <p:cxnSp>
        <p:nvCxnSpPr>
          <p:cNvPr id="161" name="Straight Arrow Connector 53"/>
          <p:cNvCxnSpPr>
            <a:stCxn id="157" idx="6"/>
            <a:endCxn id="158" idx="3"/>
          </p:cNvCxnSpPr>
          <p:nvPr/>
        </p:nvCxnSpPr>
        <p:spPr>
          <a:xfrm flipV="1">
            <a:off x="7073280" y="4227840"/>
            <a:ext cx="1970640" cy="1594080"/>
          </a:xfrm>
          <a:prstGeom prst="straightConnector1">
            <a:avLst/>
          </a:prstGeom>
          <a:ln>
            <a:solidFill>
              <a:srgbClr val="4472c4"/>
            </a:solidFill>
            <a:tailEnd len="med" type="triangle" w="med"/>
          </a:ln>
        </p:spPr>
      </p:cxnSp>
      <p:sp>
        <p:nvSpPr>
          <p:cNvPr id="162" name="Oval 95"/>
          <p:cNvSpPr/>
          <p:nvPr/>
        </p:nvSpPr>
        <p:spPr>
          <a:xfrm>
            <a:off x="1466280" y="2242800"/>
            <a:ext cx="156960" cy="15696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accent2">
                  <a:lumMod val="75000"/>
                </a:schemeClr>
              </a:solidFill>
              <a:uFillTx/>
              <a:latin typeface="Calibri"/>
            </a:endParaRPr>
          </a:p>
        </p:txBody>
      </p:sp>
      <p:sp>
        <p:nvSpPr>
          <p:cNvPr id="163" name="Oval 96"/>
          <p:cNvSpPr/>
          <p:nvPr/>
        </p:nvSpPr>
        <p:spPr>
          <a:xfrm>
            <a:off x="4379040" y="2242800"/>
            <a:ext cx="156960" cy="15696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64" name="Oval 97"/>
          <p:cNvSpPr/>
          <p:nvPr/>
        </p:nvSpPr>
        <p:spPr>
          <a:xfrm>
            <a:off x="6916320" y="1077840"/>
            <a:ext cx="156960" cy="15696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sp>
        <p:nvSpPr>
          <p:cNvPr id="165" name="Oval 98"/>
          <p:cNvSpPr/>
          <p:nvPr/>
        </p:nvSpPr>
        <p:spPr>
          <a:xfrm>
            <a:off x="9043920" y="2584800"/>
            <a:ext cx="156960" cy="156960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Calibri"/>
            </a:endParaRPr>
          </a:p>
        </p:txBody>
      </p:sp>
      <p:cxnSp>
        <p:nvCxnSpPr>
          <p:cNvPr id="166" name="Straight Arrow Connector 99"/>
          <p:cNvCxnSpPr>
            <a:stCxn id="162" idx="6"/>
            <a:endCxn id="163" idx="2"/>
          </p:cNvCxnSpPr>
          <p:nvPr/>
        </p:nvCxnSpPr>
        <p:spPr>
          <a:xfrm>
            <a:off x="1623240" y="2321280"/>
            <a:ext cx="2756160" cy="360"/>
          </a:xfrm>
          <a:prstGeom prst="straightConnector1">
            <a:avLst/>
          </a:prstGeom>
          <a:ln>
            <a:solidFill>
              <a:srgbClr val="ed7d31"/>
            </a:solidFill>
            <a:tailEnd len="med" type="triangle" w="med"/>
          </a:ln>
        </p:spPr>
      </p:cxnSp>
      <p:cxnSp>
        <p:nvCxnSpPr>
          <p:cNvPr id="167" name="Straight Arrow Connector 100"/>
          <p:cNvCxnSpPr>
            <a:stCxn id="163" idx="6"/>
            <a:endCxn id="164" idx="2"/>
          </p:cNvCxnSpPr>
          <p:nvPr/>
        </p:nvCxnSpPr>
        <p:spPr>
          <a:xfrm flipV="1">
            <a:off x="4536000" y="1156320"/>
            <a:ext cx="2380680" cy="1165320"/>
          </a:xfrm>
          <a:prstGeom prst="straightConnector1">
            <a:avLst/>
          </a:prstGeom>
          <a:ln>
            <a:solidFill>
              <a:srgbClr val="ed7d31"/>
            </a:solidFill>
            <a:tailEnd len="med" type="triangle" w="med"/>
          </a:ln>
        </p:spPr>
      </p:cxnSp>
      <p:cxnSp>
        <p:nvCxnSpPr>
          <p:cNvPr id="168" name="Straight Arrow Connector 101"/>
          <p:cNvCxnSpPr>
            <a:stCxn id="164" idx="6"/>
            <a:endCxn id="165" idx="1"/>
          </p:cNvCxnSpPr>
          <p:nvPr/>
        </p:nvCxnSpPr>
        <p:spPr>
          <a:xfrm>
            <a:off x="7073280" y="1156320"/>
            <a:ext cx="1993680" cy="1451520"/>
          </a:xfrm>
          <a:prstGeom prst="straightConnector1">
            <a:avLst/>
          </a:prstGeom>
          <a:ln>
            <a:solidFill>
              <a:srgbClr val="ed7d31"/>
            </a:solidFill>
            <a:tailEnd len="med" type="triangle" w="med"/>
          </a:ln>
        </p:spPr>
      </p:cxn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163083E-4262-447C-ABEE-6C409BB88A11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TCP’s Fields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0" name="TextBox 4"/>
          <p:cNvSpPr/>
          <p:nvPr/>
        </p:nvSpPr>
        <p:spPr>
          <a:xfrm>
            <a:off x="1408320" y="2346120"/>
            <a:ext cx="7623720" cy="35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Source Port ( From Which Application )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Destination Port ( To Which Application )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Sequence Number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Acknowledgement Number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Flags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…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E0510A8-4DA1-433F-8395-21ED9BE05198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1146600" y="951480"/>
            <a:ext cx="989892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Sequence And Acknowledgement Number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72" name="Rectangle 4"/>
          <p:cNvSpPr/>
          <p:nvPr/>
        </p:nvSpPr>
        <p:spPr>
          <a:xfrm>
            <a:off x="833040" y="2190960"/>
            <a:ext cx="3304080" cy="31413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Calibri"/>
              </a:rPr>
              <a:t>Host 1</a:t>
            </a:r>
            <a:endParaRPr b="0" lang="en-US" sz="36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73" name="Rectangle 6"/>
          <p:cNvSpPr/>
          <p:nvPr/>
        </p:nvSpPr>
        <p:spPr>
          <a:xfrm>
            <a:off x="8054640" y="2190960"/>
            <a:ext cx="3304080" cy="314136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3600" strike="noStrike" u="none">
                <a:solidFill>
                  <a:schemeClr val="dk1"/>
                </a:solidFill>
                <a:uFillTx/>
                <a:latin typeface="Calibri"/>
              </a:rPr>
              <a:t>Host 2</a:t>
            </a:r>
            <a:endParaRPr b="0" lang="en-US" sz="36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74" name="Rectangle 8"/>
          <p:cNvSpPr/>
          <p:nvPr/>
        </p:nvSpPr>
        <p:spPr>
          <a:xfrm>
            <a:off x="8058960" y="2408400"/>
            <a:ext cx="1973160" cy="434160"/>
          </a:xfrm>
          <a:prstGeom prst="rect">
            <a:avLst/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Seq Number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75" name="Rectangle 10"/>
          <p:cNvSpPr/>
          <p:nvPr/>
        </p:nvSpPr>
        <p:spPr>
          <a:xfrm>
            <a:off x="8058960" y="4289760"/>
            <a:ext cx="1973160" cy="434160"/>
          </a:xfrm>
          <a:prstGeom prst="rect">
            <a:avLst/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Ack Number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76" name="Rectangle 12"/>
          <p:cNvSpPr/>
          <p:nvPr/>
        </p:nvSpPr>
        <p:spPr>
          <a:xfrm>
            <a:off x="2154960" y="2408400"/>
            <a:ext cx="1973160" cy="434160"/>
          </a:xfrm>
          <a:prstGeom prst="rect">
            <a:avLst/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Seq Number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77" name="Rectangle 13"/>
          <p:cNvSpPr/>
          <p:nvPr/>
        </p:nvSpPr>
        <p:spPr>
          <a:xfrm>
            <a:off x="2154960" y="4289760"/>
            <a:ext cx="1973160" cy="434160"/>
          </a:xfrm>
          <a:prstGeom prst="rect">
            <a:avLst/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 </a:t>
            </a: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Ack Number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178" name="Straight Arrow Connector 15"/>
          <p:cNvCxnSpPr>
            <a:stCxn id="177" idx="3"/>
            <a:endCxn id="174" idx="1"/>
          </p:cNvCxnSpPr>
          <p:nvPr/>
        </p:nvCxnSpPr>
        <p:spPr>
          <a:xfrm flipV="1">
            <a:off x="4128120" y="2625480"/>
            <a:ext cx="3931200" cy="188172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cxnSp>
        <p:nvCxnSpPr>
          <p:cNvPr id="179" name="Straight Arrow Connector 17"/>
          <p:cNvCxnSpPr>
            <a:stCxn id="176" idx="3"/>
            <a:endCxn id="175" idx="1"/>
          </p:cNvCxnSpPr>
          <p:nvPr/>
        </p:nvCxnSpPr>
        <p:spPr>
          <a:xfrm>
            <a:off x="4128120" y="2625480"/>
            <a:ext cx="3931200" cy="1881720"/>
          </a:xfrm>
          <a:prstGeom prst="straightConnector1">
            <a:avLst/>
          </a:prstGeom>
          <a:ln>
            <a:solidFill>
              <a:srgbClr val="000000"/>
            </a:solidFill>
            <a:headEnd len="med" type="triangle" w="med"/>
            <a:tailEnd len="med" type="triangle" w="med"/>
          </a:ln>
        </p:spPr>
      </p:cxn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AC5D879B-9596-4DF8-B1B0-EC3E4E80D12E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TCP Flags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81" name="TextBox 1"/>
          <p:cNvSpPr/>
          <p:nvPr/>
        </p:nvSpPr>
        <p:spPr>
          <a:xfrm>
            <a:off x="1523880" y="2422080"/>
            <a:ext cx="7387560" cy="41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000. .... .... = Reserved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...0 .... .... = Accurate ECN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.... 0... .... = Congestion Window Reduced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.... .0.. .... = ECN-Echo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.... ..0. .... = Urgent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onsolas"/>
              </a:rPr>
              <a:t>.... ...0 .... = Ack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.... .... 0... = Push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.... .... .0.. = Reset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/>
                </a:solidFill>
                <a:uFillTx/>
                <a:latin typeface="Consolas"/>
              </a:rPr>
              <a:t>.... .... ..0. = SYN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just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dk1">
                    <a:lumMod val="50000"/>
                    <a:lumOff val="50000"/>
                  </a:schemeClr>
                </a:solidFill>
                <a:uFillTx/>
                <a:latin typeface="Consolas"/>
              </a:rPr>
              <a:t>.... .... ...0 = Fin</a:t>
            </a:r>
            <a:endParaRPr b="0" lang="en-US" sz="24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89E18E1-4165-41C4-96D7-80F8FD92DAFE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The Three Way Handshake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183" name="Straight Connector 2"/>
          <p:cNvCxnSpPr/>
          <p:nvPr/>
        </p:nvCxnSpPr>
        <p:spPr>
          <a:xfrm>
            <a:off x="3362040" y="2124000"/>
            <a:ext cx="360" cy="49629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84" name="Straight Connector 5"/>
          <p:cNvCxnSpPr/>
          <p:nvPr/>
        </p:nvCxnSpPr>
        <p:spPr>
          <a:xfrm>
            <a:off x="8839080" y="2124000"/>
            <a:ext cx="360" cy="4962960"/>
          </a:xfrm>
          <a:prstGeom prst="straightConnector1">
            <a:avLst/>
          </a:prstGeom>
          <a:ln>
            <a:solidFill>
              <a:srgbClr val="000000"/>
            </a:solidFill>
          </a:ln>
        </p:spPr>
      </p:cxnSp>
      <p:cxnSp>
        <p:nvCxnSpPr>
          <p:cNvPr id="185" name="Straight Arrow Connector 7"/>
          <p:cNvCxnSpPr/>
          <p:nvPr/>
        </p:nvCxnSpPr>
        <p:spPr>
          <a:xfrm>
            <a:off x="3362040" y="2323800"/>
            <a:ext cx="5477400" cy="129600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86" name="Straight Arrow Connector 9"/>
          <p:cNvCxnSpPr/>
          <p:nvPr/>
        </p:nvCxnSpPr>
        <p:spPr>
          <a:xfrm flipH="1">
            <a:off x="3352680" y="3971520"/>
            <a:ext cx="5477040" cy="109548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187" name="Straight Arrow Connector 10"/>
          <p:cNvCxnSpPr/>
          <p:nvPr/>
        </p:nvCxnSpPr>
        <p:spPr>
          <a:xfrm>
            <a:off x="3352680" y="5362560"/>
            <a:ext cx="5477040" cy="129564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88" name="TextBox 11"/>
          <p:cNvSpPr/>
          <p:nvPr/>
        </p:nvSpPr>
        <p:spPr>
          <a:xfrm>
            <a:off x="595440" y="2124000"/>
            <a:ext cx="132372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Host 1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89" name="TextBox 12"/>
          <p:cNvSpPr/>
          <p:nvPr/>
        </p:nvSpPr>
        <p:spPr>
          <a:xfrm>
            <a:off x="10005840" y="2181240"/>
            <a:ext cx="1323720" cy="10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Host 2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90" name="TextBox 13"/>
          <p:cNvSpPr/>
          <p:nvPr/>
        </p:nvSpPr>
        <p:spPr>
          <a:xfrm rot="809400">
            <a:off x="4240080" y="5691960"/>
            <a:ext cx="4132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Flags : ACK, Seq = X + 1, ACK = Y + 1, Data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91" name="TextBox 14"/>
          <p:cNvSpPr/>
          <p:nvPr/>
        </p:nvSpPr>
        <p:spPr>
          <a:xfrm rot="813600">
            <a:off x="4383360" y="2505960"/>
            <a:ext cx="294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Flags : SYN, Seq = X, ACK = 0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92" name="TextBox 15"/>
          <p:cNvSpPr/>
          <p:nvPr/>
        </p:nvSpPr>
        <p:spPr>
          <a:xfrm rot="20903400">
            <a:off x="4119120" y="4097160"/>
            <a:ext cx="3947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Flags : [SYN, ACK], Seq = Y, ACK = X + 1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96B049E-068F-488C-9FE5-21579F70DC41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State Machine of a TCP Server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cxnSp>
        <p:nvCxnSpPr>
          <p:cNvPr id="194" name="Straight Arrow Connector 18"/>
          <p:cNvCxnSpPr>
            <a:endCxn id="195" idx="2"/>
          </p:cNvCxnSpPr>
          <p:nvPr/>
        </p:nvCxnSpPr>
        <p:spPr>
          <a:xfrm>
            <a:off x="1521000" y="4040280"/>
            <a:ext cx="1427400" cy="720"/>
          </a:xfrm>
          <a:prstGeom prst="straightConnector1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96" name="TextBox 20"/>
          <p:cNvSpPr/>
          <p:nvPr/>
        </p:nvSpPr>
        <p:spPr>
          <a:xfrm>
            <a:off x="784800" y="3652920"/>
            <a:ext cx="2467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Received Syn request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97" name="Oval 21"/>
          <p:cNvSpPr/>
          <p:nvPr/>
        </p:nvSpPr>
        <p:spPr>
          <a:xfrm>
            <a:off x="7389360" y="3014280"/>
            <a:ext cx="2052360" cy="205236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Listening for response from client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198" name="Connector: Curved 23"/>
          <p:cNvCxnSpPr>
            <a:stCxn id="195" idx="0"/>
            <a:endCxn id="197" idx="0"/>
          </p:cNvCxnSpPr>
          <p:nvPr/>
        </p:nvCxnSpPr>
        <p:spPr>
          <a:xfrm rot="16200000">
            <a:off x="6194880" y="793440"/>
            <a:ext cx="360" cy="4441680"/>
          </a:xfrm>
          <a:prstGeom prst="curvedConnector3">
            <a:avLst>
              <a:gd name="adj1" fmla="val -61700000"/>
            </a:avLst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195" name="Oval 16"/>
          <p:cNvSpPr/>
          <p:nvPr/>
        </p:nvSpPr>
        <p:spPr>
          <a:xfrm>
            <a:off x="2948040" y="3014280"/>
            <a:ext cx="2052360" cy="205236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Received Syn request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199" name="TextBox 24"/>
          <p:cNvSpPr/>
          <p:nvPr/>
        </p:nvSpPr>
        <p:spPr>
          <a:xfrm>
            <a:off x="4847040" y="2352600"/>
            <a:ext cx="2921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Send with Flags = [SYN, ACK]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00" name="Oval 25"/>
          <p:cNvSpPr/>
          <p:nvPr/>
        </p:nvSpPr>
        <p:spPr>
          <a:xfrm>
            <a:off x="5168880" y="4728600"/>
            <a:ext cx="2052360" cy="2052360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Connected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201" name="Connector: Curved 26"/>
          <p:cNvCxnSpPr>
            <a:stCxn id="197" idx="5"/>
            <a:endCxn id="200" idx="6"/>
          </p:cNvCxnSpPr>
          <p:nvPr/>
        </p:nvCxnSpPr>
        <p:spPr>
          <a:xfrm rot="5400000">
            <a:off x="7686360" y="4300560"/>
            <a:ext cx="989280" cy="1920240"/>
          </a:xfrm>
          <a:prstGeom prst="curvedConnector2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02" name="TextBox 29"/>
          <p:cNvSpPr/>
          <p:nvPr/>
        </p:nvSpPr>
        <p:spPr>
          <a:xfrm rot="20393400">
            <a:off x="7315920" y="5387040"/>
            <a:ext cx="315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Received response from client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A2DD65D-8DD6-4440-8A0E-FC72C86BEF98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" name="Connector: Elbow 59"/>
          <p:cNvCxnSpPr>
            <a:stCxn id="204" idx="0"/>
            <a:endCxn id="205" idx="1"/>
          </p:cNvCxnSpPr>
          <p:nvPr/>
        </p:nvCxnSpPr>
        <p:spPr>
          <a:xfrm flipH="1" flipV="1" rot="5400000">
            <a:off x="2317320" y="2091600"/>
            <a:ext cx="2397240" cy="3503160"/>
          </a:xfrm>
          <a:prstGeom prst="bentConnector2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SYN Floods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04" name="Rectangle 1"/>
          <p:cNvSpPr/>
          <p:nvPr/>
        </p:nvSpPr>
        <p:spPr>
          <a:xfrm>
            <a:off x="595440" y="5041440"/>
            <a:ext cx="2338200" cy="1286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Attacker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05" name="Rectangle 4"/>
          <p:cNvSpPr/>
          <p:nvPr/>
        </p:nvSpPr>
        <p:spPr>
          <a:xfrm>
            <a:off x="5267160" y="2001600"/>
            <a:ext cx="2338200" cy="1286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Server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07" name="Rectangle 19"/>
          <p:cNvSpPr/>
          <p:nvPr/>
        </p:nvSpPr>
        <p:spPr>
          <a:xfrm>
            <a:off x="793800" y="4013640"/>
            <a:ext cx="1941840" cy="838440"/>
          </a:xfrm>
          <a:prstGeom prst="rect">
            <a:avLst/>
          </a:prstGeom>
          <a:solidFill>
            <a:srgbClr val="70ad47"/>
          </a:solidFill>
          <a:ln>
            <a:solidFill>
              <a:srgbClr val="314b1f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SYN request from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Host 1 App 1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208" name="Rectangle 22"/>
          <p:cNvSpPr/>
          <p:nvPr/>
        </p:nvSpPr>
        <p:spPr>
          <a:xfrm>
            <a:off x="2934360" y="2099880"/>
            <a:ext cx="1941840" cy="838440"/>
          </a:xfrm>
          <a:prstGeom prst="rect">
            <a:avLst/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SYN request from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Host 2 App 3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09" name="Rectangle 23"/>
          <p:cNvSpPr/>
          <p:nvPr/>
        </p:nvSpPr>
        <p:spPr>
          <a:xfrm>
            <a:off x="793800" y="2969280"/>
            <a:ext cx="1941840" cy="838440"/>
          </a:xfrm>
          <a:prstGeom prst="rect">
            <a:avLst/>
          </a:prstGeom>
          <a:solidFill>
            <a:srgbClr val="ed7d31"/>
          </a:solidFill>
          <a:ln>
            <a:solidFill>
              <a:srgbClr val="673615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SYN request from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Calibri"/>
              </a:rPr>
              <a:t>Host 6 App 3</a:t>
            </a:r>
            <a:endParaRPr b="0" lang="en-US" sz="1800" strike="noStrike" u="none">
              <a:solidFill>
                <a:srgbClr val="ffffff"/>
              </a:solidFill>
              <a:uFillTx/>
              <a:latin typeface="FreeSerif"/>
            </a:endParaRPr>
          </a:p>
        </p:txBody>
      </p:sp>
      <p:sp>
        <p:nvSpPr>
          <p:cNvPr id="210" name="Rectangle 24"/>
          <p:cNvSpPr/>
          <p:nvPr/>
        </p:nvSpPr>
        <p:spPr>
          <a:xfrm>
            <a:off x="6720840" y="4998240"/>
            <a:ext cx="2338200" cy="1286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Host 1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11" name="Rectangle 25"/>
          <p:cNvSpPr/>
          <p:nvPr/>
        </p:nvSpPr>
        <p:spPr>
          <a:xfrm>
            <a:off x="9434880" y="4998240"/>
            <a:ext cx="2338200" cy="1286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Host 2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12" name="Rectangle 26"/>
          <p:cNvSpPr/>
          <p:nvPr/>
        </p:nvSpPr>
        <p:spPr>
          <a:xfrm>
            <a:off x="4006800" y="4998240"/>
            <a:ext cx="2338200" cy="128628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Host 6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213" name="Connector: Elbow 30"/>
          <p:cNvCxnSpPr/>
          <p:nvPr/>
        </p:nvCxnSpPr>
        <p:spPr>
          <a:xfrm>
            <a:off x="6586560" y="3287880"/>
            <a:ext cx="4168080" cy="1710360"/>
          </a:xfrm>
          <a:prstGeom prst="bentConnector3">
            <a:avLst>
              <a:gd name="adj1" fmla="val 47482"/>
            </a:avLst>
          </a:prstGeom>
          <a:ln>
            <a:solidFill>
              <a:srgbClr val="000000"/>
            </a:solidFill>
            <a:headEnd len="med" type="arrow" w="med"/>
            <a:tailEnd len="med" type="arrow" w="med"/>
          </a:ln>
        </p:spPr>
      </p:cxnSp>
      <p:cxnSp>
        <p:nvCxnSpPr>
          <p:cNvPr id="214" name="Connector: Elbow 34"/>
          <p:cNvCxnSpPr/>
          <p:nvPr/>
        </p:nvCxnSpPr>
        <p:spPr>
          <a:xfrm flipH="1" rot="16200000">
            <a:off x="6240960" y="3416040"/>
            <a:ext cx="1710360" cy="1454040"/>
          </a:xfrm>
          <a:prstGeom prst="bentConnector3">
            <a:avLst>
              <a:gd name="adj1" fmla="val 50021"/>
            </a:avLst>
          </a:prstGeom>
          <a:ln>
            <a:solidFill>
              <a:srgbClr val="70ad47"/>
            </a:solidFill>
            <a:headEnd len="med" type="arrow" w="med"/>
            <a:tailEnd len="med" type="arrow" w="med"/>
          </a:ln>
        </p:spPr>
      </p:cxnSp>
      <p:cxnSp>
        <p:nvCxnSpPr>
          <p:cNvPr id="215" name="Connector: Elbow 64"/>
          <p:cNvCxnSpPr/>
          <p:nvPr/>
        </p:nvCxnSpPr>
        <p:spPr>
          <a:xfrm flipH="1" flipV="1" rot="5400000">
            <a:off x="4696200" y="3512520"/>
            <a:ext cx="1710360" cy="1261080"/>
          </a:xfrm>
          <a:prstGeom prst="bentConnector3">
            <a:avLst>
              <a:gd name="adj1" fmla="val 49978"/>
            </a:avLst>
          </a:prstGeom>
          <a:ln>
            <a:solidFill>
              <a:srgbClr val="ed7d31"/>
            </a:solidFill>
            <a:headEnd len="med" type="arrow" w="med"/>
            <a:tailEnd len="med" type="arrow" w="med"/>
          </a:ln>
        </p:spPr>
      </p:cxn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581E84D-AB0E-4441-AFDD-BF1B8B5D714B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SYN Flooding is Cheap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17" name="TextBox 4"/>
          <p:cNvSpPr/>
          <p:nvPr/>
        </p:nvSpPr>
        <p:spPr>
          <a:xfrm>
            <a:off x="2544840" y="2034000"/>
            <a:ext cx="710244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Always Waiting on Non-Existing Clients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graphicFrame>
        <p:nvGraphicFramePr>
          <p:cNvPr id="218" name="Table 1"/>
          <p:cNvGraphicFramePr/>
          <p:nvPr/>
        </p:nvGraphicFramePr>
        <p:xfrm>
          <a:off x="2031840" y="4564080"/>
          <a:ext cx="8127720" cy="1280880"/>
        </p:xfrm>
        <a:graphic>
          <a:graphicData uri="http://schemas.openxmlformats.org/drawingml/2006/table">
            <a:tbl>
              <a:tblPr/>
              <a:tblGrid>
                <a:gridCol w="1015920"/>
                <a:gridCol w="1015920"/>
                <a:gridCol w="1015920"/>
                <a:gridCol w="1015920"/>
                <a:gridCol w="1015920"/>
                <a:gridCol w="1015920"/>
                <a:gridCol w="1015920"/>
                <a:gridCol w="1015920"/>
              </a:tblGrid>
              <a:tr h="0">
                <a:tc gridSpan="8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Request Queue (Backlog)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uFillTx/>
                          <a:latin typeface="Calibri"/>
                        </a:rPr>
                        <a:t>Bad Syn request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FreeSerif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19" name="Rectangle 7"/>
          <p:cNvSpPr/>
          <p:nvPr/>
        </p:nvSpPr>
        <p:spPr>
          <a:xfrm>
            <a:off x="735120" y="3722400"/>
            <a:ext cx="1577520" cy="6426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Syn Req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220" name="Connector: Elbow 9"/>
          <p:cNvCxnSpPr>
            <a:stCxn id="219" idx="2"/>
            <a:endCxn id="218" idx="1"/>
          </p:cNvCxnSpPr>
          <p:nvPr/>
        </p:nvCxnSpPr>
        <p:spPr>
          <a:xfrm flipH="1" rot="16200000">
            <a:off x="1358280" y="4530240"/>
            <a:ext cx="839520" cy="508320"/>
          </a:xfrm>
          <a:prstGeom prst="bentConnector2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21" name="Connector: Elbow 10"/>
          <p:cNvCxnSpPr>
            <a:stCxn id="218" idx="3"/>
            <a:endCxn id="222" idx="2"/>
          </p:cNvCxnSpPr>
          <p:nvPr/>
        </p:nvCxnSpPr>
        <p:spPr>
          <a:xfrm flipV="1">
            <a:off x="10158840" y="4365000"/>
            <a:ext cx="509400" cy="839520"/>
          </a:xfrm>
          <a:prstGeom prst="bentConnector2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22" name="Rectangle 13"/>
          <p:cNvSpPr/>
          <p:nvPr/>
        </p:nvSpPr>
        <p:spPr>
          <a:xfrm>
            <a:off x="9879120" y="3722400"/>
            <a:ext cx="1577520" cy="6426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To be handled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1DDE996-B393-40D8-B931-B2C6EA7833B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Solution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4" name="TextBox 4"/>
          <p:cNvSpPr/>
          <p:nvPr/>
        </p:nvSpPr>
        <p:spPr>
          <a:xfrm>
            <a:off x="4260240" y="3136680"/>
            <a:ext cx="367128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Break the Protocol?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F4F6EB8-153A-46A9-8A9D-74660A10DDCC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Syn Cookies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6" name="TextBox 4"/>
          <p:cNvSpPr/>
          <p:nvPr/>
        </p:nvSpPr>
        <p:spPr>
          <a:xfrm>
            <a:off x="1301400" y="2346120"/>
            <a:ext cx="6678000" cy="204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Handle the Handshake Statelessly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No More Request Queue (Backlog)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Reconstructing the Connection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F1C2A14-6735-4BC1-B699-93190A18B88A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How is it Done?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28" name="TextBox 4"/>
          <p:cNvSpPr/>
          <p:nvPr/>
        </p:nvSpPr>
        <p:spPr>
          <a:xfrm>
            <a:off x="2718000" y="1791000"/>
            <a:ext cx="67194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Forget the Connection But Not Really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29" name="Oval 1"/>
          <p:cNvSpPr/>
          <p:nvPr/>
        </p:nvSpPr>
        <p:spPr>
          <a:xfrm>
            <a:off x="4880880" y="2803680"/>
            <a:ext cx="1828080" cy="182808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Wait For SYN Request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30" name="Oval 87"/>
          <p:cNvSpPr/>
          <p:nvPr/>
        </p:nvSpPr>
        <p:spPr>
          <a:xfrm>
            <a:off x="982440" y="2803680"/>
            <a:ext cx="1828080" cy="182808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Generate Syn cookie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231" name="Connector: Curved 93"/>
          <p:cNvCxnSpPr>
            <a:stCxn id="229" idx="3"/>
            <a:endCxn id="230" idx="5"/>
          </p:cNvCxnSpPr>
          <p:nvPr/>
        </p:nvCxnSpPr>
        <p:spPr>
          <a:xfrm rot="16200000">
            <a:off x="3845520" y="3061440"/>
            <a:ext cx="360" cy="2605680"/>
          </a:xfrm>
          <a:prstGeom prst="curvedConnector3">
            <a:avLst>
              <a:gd name="adj1" fmla="val 100000"/>
            </a:avLst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32" name="Connector: Curved 95"/>
          <p:cNvCxnSpPr>
            <a:stCxn id="230" idx="7"/>
            <a:endCxn id="229" idx="1"/>
          </p:cNvCxnSpPr>
          <p:nvPr/>
        </p:nvCxnSpPr>
        <p:spPr>
          <a:xfrm rot="16200000">
            <a:off x="3845520" y="1768320"/>
            <a:ext cx="360" cy="2605680"/>
          </a:xfrm>
          <a:prstGeom prst="curvedConnector3">
            <a:avLst>
              <a:gd name="adj1" fmla="val 100000"/>
            </a:avLst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33" name="Oval 105"/>
          <p:cNvSpPr/>
          <p:nvPr/>
        </p:nvSpPr>
        <p:spPr>
          <a:xfrm>
            <a:off x="9223200" y="2762280"/>
            <a:ext cx="1828080" cy="1828080"/>
          </a:xfrm>
          <a:prstGeom prst="ellipse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Verify SYN Cookie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34" name="Oval 112"/>
          <p:cNvSpPr/>
          <p:nvPr/>
        </p:nvSpPr>
        <p:spPr>
          <a:xfrm>
            <a:off x="6408720" y="4935240"/>
            <a:ext cx="1828080" cy="1828080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Connected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235" name="Connector: Curved 114"/>
          <p:cNvCxnSpPr>
            <a:stCxn id="229" idx="7"/>
            <a:endCxn id="233" idx="1"/>
          </p:cNvCxnSpPr>
          <p:nvPr/>
        </p:nvCxnSpPr>
        <p:spPr>
          <a:xfrm flipH="1" flipV="1" rot="5400000">
            <a:off x="7945200" y="1525680"/>
            <a:ext cx="41760" cy="3049560"/>
          </a:xfrm>
          <a:prstGeom prst="curvedConnector3">
            <a:avLst>
              <a:gd name="adj1" fmla="val 1298260"/>
            </a:avLst>
          </a:prstGeom>
          <a:ln>
            <a:solidFill>
              <a:srgbClr val="000000"/>
            </a:solidFill>
            <a:tailEnd len="med" type="triangle" w="med"/>
          </a:ln>
        </p:spPr>
      </p:cxnSp>
      <p:cxnSp>
        <p:nvCxnSpPr>
          <p:cNvPr id="236" name="Connector: Curved 116"/>
          <p:cNvCxnSpPr>
            <a:stCxn id="233" idx="4"/>
            <a:endCxn id="234" idx="6"/>
          </p:cNvCxnSpPr>
          <p:nvPr/>
        </p:nvCxnSpPr>
        <p:spPr>
          <a:xfrm rot="5400000">
            <a:off x="8557200" y="4269600"/>
            <a:ext cx="1259280" cy="1900800"/>
          </a:xfrm>
          <a:prstGeom prst="curvedConnector2">
            <a:avLst/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37" name="Rectangle: Diagonal Corners Rounded 132"/>
          <p:cNvSpPr/>
          <p:nvPr/>
        </p:nvSpPr>
        <p:spPr>
          <a:xfrm>
            <a:off x="2913480" y="2486880"/>
            <a:ext cx="1764360" cy="427680"/>
          </a:xfrm>
          <a:prstGeom prst="round2DiagRect">
            <a:avLst>
              <a:gd name="adj1" fmla="val 16667"/>
              <a:gd name="adj2" fmla="val 0"/>
            </a:avLst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Send SYN cookie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38" name="Rectangle: Diagonal Corners Rounded 133"/>
          <p:cNvSpPr/>
          <p:nvPr/>
        </p:nvSpPr>
        <p:spPr>
          <a:xfrm>
            <a:off x="2660040" y="4574880"/>
            <a:ext cx="2270880" cy="427680"/>
          </a:xfrm>
          <a:prstGeom prst="round2DiagRect">
            <a:avLst>
              <a:gd name="adj1" fmla="val 16667"/>
              <a:gd name="adj2" fmla="val 0"/>
            </a:avLst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Received SYN request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39" name="Rectangle: Diagonal Corners Rounded 134"/>
          <p:cNvSpPr/>
          <p:nvPr/>
        </p:nvSpPr>
        <p:spPr>
          <a:xfrm>
            <a:off x="8401320" y="5113440"/>
            <a:ext cx="2999160" cy="896040"/>
          </a:xfrm>
          <a:prstGeom prst="round2DiagRect">
            <a:avLst>
              <a:gd name="adj1" fmla="val 16667"/>
              <a:gd name="adj2" fmla="val 0"/>
            </a:avLst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If is valid: Allocate resources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For the connection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And Recover Info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240" name="Rectangle: Diagonal Corners Rounded 136"/>
          <p:cNvSpPr/>
          <p:nvPr/>
        </p:nvSpPr>
        <p:spPr>
          <a:xfrm>
            <a:off x="6830640" y="2375640"/>
            <a:ext cx="2270880" cy="427680"/>
          </a:xfrm>
          <a:prstGeom prst="round2DiagRect">
            <a:avLst>
              <a:gd name="adj1" fmla="val 16667"/>
              <a:gd name="adj2" fmla="val 0"/>
            </a:avLst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Received Ack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cxnSp>
        <p:nvCxnSpPr>
          <p:cNvPr id="241" name="Connector: Curved 149"/>
          <p:cNvCxnSpPr>
            <a:stCxn id="233" idx="3"/>
            <a:endCxn id="229" idx="5"/>
          </p:cNvCxnSpPr>
          <p:nvPr/>
        </p:nvCxnSpPr>
        <p:spPr>
          <a:xfrm rot="5400000">
            <a:off x="7945200" y="2818800"/>
            <a:ext cx="41760" cy="3049560"/>
          </a:xfrm>
          <a:prstGeom prst="curvedConnector3">
            <a:avLst>
              <a:gd name="adj1" fmla="val 1299130"/>
            </a:avLst>
          </a:prstGeom>
          <a:ln>
            <a:solidFill>
              <a:srgbClr val="000000"/>
            </a:solidFill>
            <a:tailEnd len="med" type="triangle" w="med"/>
          </a:ln>
        </p:spPr>
      </p:cxnSp>
      <p:sp>
        <p:nvSpPr>
          <p:cNvPr id="242" name="Rectangle: Diagonal Corners Rounded 157"/>
          <p:cNvSpPr/>
          <p:nvPr/>
        </p:nvSpPr>
        <p:spPr>
          <a:xfrm>
            <a:off x="7218360" y="4393800"/>
            <a:ext cx="1524240" cy="427680"/>
          </a:xfrm>
          <a:prstGeom prst="round2DiagRect">
            <a:avLst>
              <a:gd name="adj1" fmla="val 16667"/>
              <a:gd name="adj2" fmla="val 0"/>
            </a:avLst>
          </a:prstGeom>
          <a:gradFill rotWithShape="0">
            <a:gsLst>
              <a:gs pos="0">
                <a:srgbClr val="d1d1d1"/>
              </a:gs>
              <a:gs pos="50000">
                <a:srgbClr val="c7c7c7"/>
              </a:gs>
              <a:gs pos="100000">
                <a:srgbClr val="c0c0c0"/>
              </a:gs>
            </a:gsLst>
            <a:lin ang="5400000"/>
          </a:gradFill>
          <a:ln>
            <a:solidFill>
              <a:srgbClr val="a5a5a5"/>
            </a:solidFill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uFillTx/>
                <a:latin typeface="Calibri"/>
              </a:rPr>
              <a:t>If is Not valid:</a:t>
            </a:r>
            <a:endParaRPr b="0" lang="en-US" sz="18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F7D4025-2B96-418F-B2E0-DBA4C7AEBB11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Information to Recover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4" name="TextBox 4"/>
          <p:cNvSpPr/>
          <p:nvPr/>
        </p:nvSpPr>
        <p:spPr>
          <a:xfrm>
            <a:off x="1163880" y="2346120"/>
            <a:ext cx="9190080" cy="30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Server and Client’s IP Address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Server and Client’s Sequence Number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Server and Client’s Port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Server and Client Maximum Segment Size (MSS)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TCP Options (Optional but Important)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A8761E3-DD5F-42F9-AABB-3CA8088D9B80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Why Encoding Stuff?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6" name="TextBox 4"/>
          <p:cNvSpPr/>
          <p:nvPr/>
        </p:nvSpPr>
        <p:spPr>
          <a:xfrm>
            <a:off x="1307160" y="2346120"/>
            <a:ext cx="758124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Preventing Against Connection Spoofing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Being Flooded with Acks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7C2A202-955A-4DA8-B9FE-E603C15CC42B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 fontScale="77500" lnSpcReduction="1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Benefits and Drawbacks of</a:t>
            </a:r>
            <a:br>
              <a:rPr sz="4400"/>
            </a:b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Syn Cookies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1269000" y="2346120"/>
            <a:ext cx="6741720" cy="35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1c8d01"/>
              </a:buClr>
              <a:buFont typeface="Arial"/>
              <a:buChar char="•"/>
            </a:pPr>
            <a:r>
              <a:rPr b="0" lang="en-US" sz="3200" strike="noStrike" u="none">
                <a:solidFill>
                  <a:srgbClr val="1c8d01"/>
                </a:solidFill>
                <a:uFillTx/>
                <a:latin typeface="Calibri"/>
              </a:rPr>
              <a:t>Higher Cost of Syn floods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1c8d01"/>
              </a:buClr>
              <a:buFont typeface="Arial"/>
              <a:buChar char="•"/>
            </a:pPr>
            <a:r>
              <a:rPr b="0" lang="en-US" sz="3200" strike="noStrike" u="none">
                <a:solidFill>
                  <a:srgbClr val="1c8d01"/>
                </a:solidFill>
                <a:uFillTx/>
                <a:latin typeface="Calibri"/>
              </a:rPr>
              <a:t>Lower Memory Usage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ff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rgbClr val="ff0000"/>
                </a:solidFill>
                <a:uFillTx/>
                <a:latin typeface="Calibri"/>
              </a:rPr>
              <a:t>No Direct Support For TCP Options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ff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rgbClr val="ff0000"/>
                </a:solidFill>
                <a:uFillTx/>
                <a:latin typeface="Calibri"/>
              </a:rPr>
              <a:t>Higher CPU Usage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ff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rgbClr val="ff0000"/>
                </a:solidFill>
                <a:uFillTx/>
                <a:latin typeface="Calibri"/>
              </a:rPr>
              <a:t>Complexity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C7494D7-88AC-4025-B0C3-A339F8655961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1523880" y="95148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Learn More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50" name="TextBox 1"/>
          <p:cNvSpPr/>
          <p:nvPr/>
        </p:nvSpPr>
        <p:spPr>
          <a:xfrm>
            <a:off x="1523880" y="2346120"/>
            <a:ext cx="5671440" cy="39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linux/net/ipv4/syncookies.c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onsolas"/>
              </a:rPr>
              <a:t>lwn.net/Articles/277146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  <a:p>
            <a:pPr defTabSz="914400"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C802F50-1E5B-475E-9C5C-F4315F9576AB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1523880" y="972360"/>
            <a:ext cx="9143640" cy="839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trike="noStrike" u="none">
                <a:solidFill>
                  <a:schemeClr val="dk1"/>
                </a:solidFill>
                <a:uFillTx/>
                <a:latin typeface="Calibri Light"/>
              </a:rPr>
              <a:t>Questions</a:t>
            </a:r>
            <a:endParaRPr b="0" lang="en-US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52" name="TextBox 1"/>
          <p:cNvSpPr/>
          <p:nvPr/>
        </p:nvSpPr>
        <p:spPr>
          <a:xfrm>
            <a:off x="2253600" y="2351880"/>
            <a:ext cx="768420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3200" strike="noStrike" u="none">
                <a:solidFill>
                  <a:schemeClr val="dk1"/>
                </a:solidFill>
                <a:uFillTx/>
                <a:latin typeface="Calibri"/>
              </a:rPr>
              <a:t>Presentation Files: github.com/AliGhaffarian/university_thingies</a:t>
            </a:r>
            <a:endParaRPr b="0" lang="en-US" sz="3200" strike="noStrike" u="none">
              <a:solidFill>
                <a:srgbClr val="000000"/>
              </a:solidFill>
              <a:uFillTx/>
              <a:latin typeface="FreeSerif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4E6157E-13FC-4E59-A62D-F6043632FB0B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936</TotalTime>
  <Application>LibreOffice/24.8.7.2$Linux_X86_64 LibreOffice_project/480$Build-2</Application>
  <AppVersion>15.0000</AppVersion>
  <Words>675</Words>
  <Paragraphs>203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2024-11-20T05:34:03Z</dcterms:created>
  <dc:creator>ali ghaffarian</dc:creator>
  <dc:description/>
  <dc:language>en-US</dc:language>
  <cp:lastModifiedBy/>
  <dcterms:modified xsi:type="dcterms:W3CDTF">2025-07-31T14:25:24Z</dcterms:modified>
  <cp:revision>89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6</vt:i4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23</vt:i4>
  </property>
</Properties>
</file>